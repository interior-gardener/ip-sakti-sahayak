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11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Vanaspati is a virtual herbal garden for the AYUSH problem statement. The one line to remember: every plant is generated at run time from its botanical description, so there is no 3D model, texture or photograph anywhere in the project. Fill in the amber fields from the SIH portal before submitting.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spec card on the right: that object is the whole plant. The 3D geometry, the 2D botanical plate and the search index are all derived from it, which is why adding a species is data entry rather than 3D modelling.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runs left to right and is the whole system: a spec becomes a skeleton, the skeleton is clothed by the leaf profile function, and everything merges into at most six geometries sharing one shader. That is why twenty-five distinct species cost about sixty thousand triangles.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Feasibility is not theoretical: the prototype exists and runs. The risk table is the honest version - the two that matter to a jury are device performance, answered by the leaf budget and quality presets, and botanical authority, answered by following the Ayurvedic Pharmacopoeia and IUCN.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conservation point is the strongest one in the room: for guggulu the medicinal part is the resin, and taking it kills the plant. A virtual garden is the only way a class of forty can study a critically endangered species without harming a single specimen.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kinds of source: the botany and pharmacology, which come from the Ayurvedic Pharmacopoeia, AYUSH and IUCN, and the rendering techniques, which come from three.js and the vegetation-shading literature. Replace the amber URLs and drop a real QR code over the placeholder.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7F8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191969" cy="68580"/>
          </a:xfrm>
          <a:prstGeom prst="rect">
            <a:avLst/>
          </a:prstGeom>
          <a:gradFill rotWithShape="1">
            <a:gsLst>
              <a:gs pos="0">
                <a:srgbClr val="D9A13C"/>
              </a:gs>
              <a:gs pos="100000">
                <a:srgbClr val="1E6B4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ectangle 3"/>
          <p:cNvSpPr/>
          <p:nvPr/>
        </p:nvSpPr>
        <p:spPr>
          <a:xfrm>
            <a:off x="6144768" y="1060704"/>
            <a:ext cx="6044184" cy="5294376"/>
          </a:xfrm>
          <a:prstGeom prst="rect">
            <a:avLst/>
          </a:prstGeom>
          <a:gradFill rotWithShape="1">
            <a:gsLst>
              <a:gs pos="0">
                <a:srgbClr val="17392A"/>
              </a:gs>
              <a:gs pos="100000">
                <a:srgbClr val="0C2118"/>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Rectangle 4"/>
          <p:cNvSpPr/>
          <p:nvPr/>
        </p:nvSpPr>
        <p:spPr>
          <a:xfrm>
            <a:off x="0" y="6354165"/>
            <a:ext cx="12191969" cy="50383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384048" y="6354165"/>
            <a:ext cx="5120640" cy="503834"/>
          </a:xfrm>
          <a:prstGeom prst="rect">
            <a:avLst/>
          </a:prstGeom>
          <a:noFill/>
        </p:spPr>
        <p:txBody>
          <a:bodyPr wrap="square" lIns="0" tIns="0" rIns="0" bIns="0" anchor="ctr">
            <a:spAutoFit/>
          </a:bodyPr>
          <a:lstStyle/>
          <a:p>
            <a:pPr algn="l"/>
            <a:r>
              <a:rPr sz="950" b="1" i="0" u="none" spc="80">
                <a:solidFill>
                  <a:srgbClr val="FFFFFF"/>
                </a:solidFill>
                <a:latin typeface="Arial"/>
              </a:rPr>
              <a:t>VANASPATI  ·  Virtual Herbal Garden</a:t>
            </a:r>
          </a:p>
        </p:txBody>
      </p:sp>
      <p:sp>
        <p:nvSpPr>
          <p:cNvPr id="7" name="TextBox 6"/>
          <p:cNvSpPr txBox="1"/>
          <p:nvPr/>
        </p:nvSpPr>
        <p:spPr>
          <a:xfrm>
            <a:off x="4206240" y="6354165"/>
            <a:ext cx="3749039" cy="503834"/>
          </a:xfrm>
          <a:prstGeom prst="rect">
            <a:avLst/>
          </a:prstGeom>
          <a:noFill/>
        </p:spPr>
        <p:txBody>
          <a:bodyPr wrap="square" lIns="0" tIns="0" rIns="0" bIns="0" anchor="ctr">
            <a:spAutoFit/>
          </a:bodyPr>
          <a:lstStyle/>
          <a:p>
            <a:pPr algn="ctr"/>
            <a:r>
              <a:rPr sz="950" b="0" i="0" u="none">
                <a:solidFill>
                  <a:srgbClr val="FFFFFF"/>
                </a:solidFill>
                <a:latin typeface="Arial"/>
              </a:rPr>
              <a:t>@SIH Idea submission- Template</a:t>
            </a:r>
          </a:p>
        </p:txBody>
      </p:sp>
      <p:sp>
        <p:nvSpPr>
          <p:cNvPr id="8" name="TextBox 7"/>
          <p:cNvSpPr txBox="1"/>
          <p:nvPr/>
        </p:nvSpPr>
        <p:spPr>
          <a:xfrm>
            <a:off x="10424160" y="6354165"/>
            <a:ext cx="1280160" cy="503834"/>
          </a:xfrm>
          <a:prstGeom prst="rect">
            <a:avLst/>
          </a:prstGeom>
          <a:noFill/>
        </p:spPr>
        <p:txBody>
          <a:bodyPr wrap="square" lIns="0" tIns="0" rIns="0" bIns="0" anchor="ctr">
            <a:spAutoFit/>
          </a:bodyPr>
          <a:lstStyle/>
          <a:p>
            <a:pPr algn="r"/>
            <a:r>
              <a:rPr sz="1100" b="1" i="0" u="none">
                <a:solidFill>
                  <a:srgbClr val="FFFFFF"/>
                </a:solidFill>
                <a:latin typeface="Arial"/>
              </a:rPr>
              <a:t>1</a:t>
            </a:r>
          </a:p>
        </p:txBody>
      </p:sp>
      <p:pic>
        <p:nvPicPr>
          <p:cNvPr id="9" name="Picture 8" descr="image2.png"/>
          <p:cNvPicPr>
            <a:picLocks noChangeAspect="1"/>
          </p:cNvPicPr>
          <p:nvPr/>
        </p:nvPicPr>
        <p:blipFill>
          <a:blip r:embed="rId3"/>
          <a:stretch>
            <a:fillRect/>
          </a:stretch>
        </p:blipFill>
        <p:spPr>
          <a:xfrm>
            <a:off x="10113264" y="182880"/>
            <a:ext cx="1572768" cy="799185"/>
          </a:xfrm>
          <a:prstGeom prst="rect">
            <a:avLst/>
          </a:prstGeom>
        </p:spPr>
      </p:pic>
      <p:sp>
        <p:nvSpPr>
          <p:cNvPr id="10" name="TEAM LOGO PLACEHOLDER"/>
          <p:cNvSpPr/>
          <p:nvPr/>
        </p:nvSpPr>
        <p:spPr>
          <a:xfrm>
            <a:off x="475488" y="201168"/>
            <a:ext cx="877824" cy="576072"/>
          </a:xfrm>
          <a:prstGeom prst="ellipse">
            <a:avLst/>
          </a:prstGeom>
          <a:no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u="none" spc="60">
                <a:solidFill>
                  <a:srgbClr val="7FB06D"/>
                </a:solidFill>
                <a:latin typeface="Arial"/>
              </a:rPr>
              <a:t>TEAM
LOGO</a:t>
            </a:r>
          </a:p>
        </p:txBody>
      </p:sp>
      <p:sp>
        <p:nvSpPr>
          <p:cNvPr id="11" name="TextBox 10"/>
          <p:cNvSpPr txBox="1"/>
          <p:nvPr/>
        </p:nvSpPr>
        <p:spPr>
          <a:xfrm>
            <a:off x="502920" y="1170432"/>
            <a:ext cx="5486400" cy="256032"/>
          </a:xfrm>
          <a:prstGeom prst="rect">
            <a:avLst/>
          </a:prstGeom>
          <a:noFill/>
        </p:spPr>
        <p:txBody>
          <a:bodyPr wrap="square" lIns="0" tIns="0" rIns="0" bIns="0" anchor="t">
            <a:spAutoFit/>
          </a:bodyPr>
          <a:lstStyle/>
          <a:p>
            <a:pPr algn="l"/>
            <a:r>
              <a:rPr sz="1100" b="1" i="0" u="none" spc="260">
                <a:solidFill>
                  <a:srgbClr val="0070C0"/>
                </a:solidFill>
                <a:latin typeface="Arial"/>
              </a:rPr>
              <a:t>SMART INDIA HACKATHON 2025</a:t>
            </a:r>
          </a:p>
        </p:txBody>
      </p:sp>
      <p:sp>
        <p:nvSpPr>
          <p:cNvPr id="12" name="TextBox 11"/>
          <p:cNvSpPr txBox="1"/>
          <p:nvPr/>
        </p:nvSpPr>
        <p:spPr>
          <a:xfrm>
            <a:off x="475488" y="1463040"/>
            <a:ext cx="5669280" cy="960120"/>
          </a:xfrm>
          <a:prstGeom prst="rect">
            <a:avLst/>
          </a:prstGeom>
          <a:noFill/>
        </p:spPr>
        <p:txBody>
          <a:bodyPr wrap="square" lIns="0" tIns="0" rIns="0" bIns="0" anchor="t">
            <a:spAutoFit/>
          </a:bodyPr>
          <a:lstStyle/>
          <a:p>
            <a:pPr algn="l"/>
            <a:r>
              <a:rPr sz="6200" b="1" i="0" u="none" spc="200">
                <a:solidFill>
                  <a:srgbClr val="12261C"/>
                </a:solidFill>
                <a:latin typeface="Times New Roman"/>
              </a:rPr>
              <a:t>VANASPATI</a:t>
            </a:r>
          </a:p>
        </p:txBody>
      </p:sp>
      <p:sp>
        <p:nvSpPr>
          <p:cNvPr id="13" name="Rectangle 12"/>
          <p:cNvSpPr/>
          <p:nvPr/>
        </p:nvSpPr>
        <p:spPr>
          <a:xfrm>
            <a:off x="502920" y="2450592"/>
            <a:ext cx="1737360" cy="41148"/>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502920" y="2615184"/>
            <a:ext cx="5440680" cy="777240"/>
          </a:xfrm>
          <a:prstGeom prst="rect">
            <a:avLst/>
          </a:prstGeom>
          <a:noFill/>
        </p:spPr>
        <p:txBody>
          <a:bodyPr wrap="square" lIns="0" tIns="0" rIns="0" bIns="0" anchor="t">
            <a:spAutoFit/>
          </a:bodyPr>
          <a:lstStyle/>
          <a:p>
            <a:pPr algn="l">
              <a:lnSpc>
                <a:spcPct val="112000"/>
              </a:lnSpc>
            </a:pPr>
            <a:r>
              <a:rPr sz="1350" b="0" i="0" u="none">
                <a:solidFill>
                  <a:srgbClr val="37463D"/>
                </a:solidFill>
                <a:latin typeface="Arial"/>
              </a:rPr>
              <a:t>A virtual herbal garden in which every plant is </a:t>
            </a:r>
            <a:r>
              <a:rPr sz="1350" b="1" i="0" u="none">
                <a:solidFill>
                  <a:srgbClr val="1E6B45"/>
                </a:solidFill>
                <a:latin typeface="Arial"/>
              </a:rPr>
              <a:t>grown from its botany</a:t>
            </a:r>
            <a:r>
              <a:rPr sz="1350" b="0" i="0" u="none">
                <a:solidFill>
                  <a:srgbClr val="37463D"/>
                </a:solidFill>
                <a:latin typeface="Arial"/>
              </a:rPr>
              <a:t> — never downloaded.</a:t>
            </a:r>
          </a:p>
        </p:txBody>
      </p:sp>
      <p:sp>
        <p:nvSpPr>
          <p:cNvPr id="15" name="Rectangle 14"/>
          <p:cNvSpPr/>
          <p:nvPr/>
        </p:nvSpPr>
        <p:spPr>
          <a:xfrm>
            <a:off x="475488" y="3255264"/>
            <a:ext cx="5532120" cy="402336"/>
          </a:xfrm>
          <a:prstGeom prst="rect">
            <a:avLst/>
          </a:prstGeom>
          <a:solidFill>
            <a:srgbClr val="FFFFFF"/>
          </a:solidFill>
          <a:ln w="6350">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475488" y="3255264"/>
            <a:ext cx="36576" cy="402336"/>
          </a:xfrm>
          <a:prstGeom prst="rect">
            <a:avLst/>
          </a:prstGeom>
          <a:solidFill>
            <a:srgbClr val="B87B1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640080" y="3255264"/>
            <a:ext cx="5257800" cy="402336"/>
          </a:xfrm>
          <a:prstGeom prst="rect">
            <a:avLst/>
          </a:prstGeom>
          <a:noFill/>
        </p:spPr>
        <p:txBody>
          <a:bodyPr wrap="square" lIns="0" tIns="0" rIns="0" bIns="0" anchor="ctr">
            <a:spAutoFit/>
          </a:bodyPr>
          <a:lstStyle/>
          <a:p>
            <a:pPr algn="l"/>
            <a:r>
              <a:rPr sz="1050" b="1" i="0" u="none">
                <a:solidFill>
                  <a:srgbClr val="12261C"/>
                </a:solidFill>
                <a:latin typeface="Arial"/>
              </a:rPr>
              <a:t>Problem Statement ID –  </a:t>
            </a:r>
            <a:r>
              <a:rPr sz="1050" b="1" i="0" u="none">
                <a:solidFill>
                  <a:srgbClr val="B87B1F"/>
                </a:solidFill>
                <a:latin typeface="Arial"/>
              </a:rPr>
              <a:t>« Problem Statement ID »</a:t>
            </a:r>
          </a:p>
        </p:txBody>
      </p:sp>
      <p:sp>
        <p:nvSpPr>
          <p:cNvPr id="18" name="Rectangle 17"/>
          <p:cNvSpPr/>
          <p:nvPr/>
        </p:nvSpPr>
        <p:spPr>
          <a:xfrm>
            <a:off x="475488" y="3689604"/>
            <a:ext cx="5532120" cy="402336"/>
          </a:xfrm>
          <a:prstGeom prst="rect">
            <a:avLst/>
          </a:prstGeom>
          <a:solidFill>
            <a:srgbClr val="FFFFFF"/>
          </a:solidFill>
          <a:ln w="6350">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ectangle 18"/>
          <p:cNvSpPr/>
          <p:nvPr/>
        </p:nvSpPr>
        <p:spPr>
          <a:xfrm>
            <a:off x="475488" y="3689604"/>
            <a:ext cx="36576" cy="402336"/>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640080" y="3689604"/>
            <a:ext cx="5257800" cy="402336"/>
          </a:xfrm>
          <a:prstGeom prst="rect">
            <a:avLst/>
          </a:prstGeom>
          <a:noFill/>
        </p:spPr>
        <p:txBody>
          <a:bodyPr wrap="square" lIns="0" tIns="0" rIns="0" bIns="0" anchor="ctr">
            <a:spAutoFit/>
          </a:bodyPr>
          <a:lstStyle/>
          <a:p>
            <a:pPr algn="l"/>
            <a:r>
              <a:rPr sz="1050" b="1" i="0" u="none">
                <a:solidFill>
                  <a:srgbClr val="12261C"/>
                </a:solidFill>
                <a:latin typeface="Arial"/>
              </a:rPr>
              <a:t>Problem Statement Title-  </a:t>
            </a:r>
            <a:r>
              <a:rPr sz="1050" b="0" i="0" u="none">
                <a:solidFill>
                  <a:srgbClr val="37463D"/>
                </a:solidFill>
                <a:latin typeface="Arial"/>
              </a:rPr>
              <a:t>Development of a Virtual Herbal Garden (AYUSH)</a:t>
            </a:r>
          </a:p>
        </p:txBody>
      </p:sp>
      <p:sp>
        <p:nvSpPr>
          <p:cNvPr id="21" name="Rectangle 20"/>
          <p:cNvSpPr/>
          <p:nvPr/>
        </p:nvSpPr>
        <p:spPr>
          <a:xfrm>
            <a:off x="475488" y="4123944"/>
            <a:ext cx="5532120" cy="402336"/>
          </a:xfrm>
          <a:prstGeom prst="rect">
            <a:avLst/>
          </a:prstGeom>
          <a:solidFill>
            <a:srgbClr val="FFFFFF"/>
          </a:solidFill>
          <a:ln w="6350">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475488" y="4123944"/>
            <a:ext cx="36576" cy="402336"/>
          </a:xfrm>
          <a:prstGeom prst="rect">
            <a:avLst/>
          </a:prstGeom>
          <a:solidFill>
            <a:srgbClr val="B87B1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40080" y="4123944"/>
            <a:ext cx="5257800" cy="402336"/>
          </a:xfrm>
          <a:prstGeom prst="rect">
            <a:avLst/>
          </a:prstGeom>
          <a:noFill/>
        </p:spPr>
        <p:txBody>
          <a:bodyPr wrap="square" lIns="0" tIns="0" rIns="0" bIns="0" anchor="ctr">
            <a:spAutoFit/>
          </a:bodyPr>
          <a:lstStyle/>
          <a:p>
            <a:pPr algn="l"/>
            <a:r>
              <a:rPr sz="1050" b="1" i="0" u="none">
                <a:solidFill>
                  <a:srgbClr val="12261C"/>
                </a:solidFill>
                <a:latin typeface="Arial"/>
              </a:rPr>
              <a:t>Theme-  </a:t>
            </a:r>
            <a:r>
              <a:rPr sz="1050" b="1" i="0" u="none">
                <a:solidFill>
                  <a:srgbClr val="B87B1F"/>
                </a:solidFill>
                <a:latin typeface="Arial"/>
              </a:rPr>
              <a:t>« MedTech / BioTech / HealthTech »</a:t>
            </a:r>
          </a:p>
        </p:txBody>
      </p:sp>
      <p:sp>
        <p:nvSpPr>
          <p:cNvPr id="24" name="Rectangle 23"/>
          <p:cNvSpPr/>
          <p:nvPr/>
        </p:nvSpPr>
        <p:spPr>
          <a:xfrm>
            <a:off x="475488" y="4558283"/>
            <a:ext cx="5532120" cy="402336"/>
          </a:xfrm>
          <a:prstGeom prst="rect">
            <a:avLst/>
          </a:prstGeom>
          <a:solidFill>
            <a:srgbClr val="FFFFFF"/>
          </a:solidFill>
          <a:ln w="6350">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475488" y="4558283"/>
            <a:ext cx="36576" cy="402336"/>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640080" y="4558283"/>
            <a:ext cx="5257800" cy="402336"/>
          </a:xfrm>
          <a:prstGeom prst="rect">
            <a:avLst/>
          </a:prstGeom>
          <a:noFill/>
        </p:spPr>
        <p:txBody>
          <a:bodyPr wrap="square" lIns="0" tIns="0" rIns="0" bIns="0" anchor="ctr">
            <a:spAutoFit/>
          </a:bodyPr>
          <a:lstStyle/>
          <a:p>
            <a:pPr algn="l"/>
            <a:r>
              <a:rPr sz="1050" b="1" i="0" u="none">
                <a:solidFill>
                  <a:srgbClr val="12261C"/>
                </a:solidFill>
                <a:latin typeface="Arial"/>
              </a:rPr>
              <a:t>PS Category-  </a:t>
            </a:r>
            <a:r>
              <a:rPr sz="1050" b="0" i="0" u="none">
                <a:solidFill>
                  <a:srgbClr val="37463D"/>
                </a:solidFill>
                <a:latin typeface="Arial"/>
              </a:rPr>
              <a:t>Software</a:t>
            </a:r>
          </a:p>
        </p:txBody>
      </p:sp>
      <p:sp>
        <p:nvSpPr>
          <p:cNvPr id="27" name="Rectangle 26"/>
          <p:cNvSpPr/>
          <p:nvPr/>
        </p:nvSpPr>
        <p:spPr>
          <a:xfrm>
            <a:off x="475488" y="4992623"/>
            <a:ext cx="5532120" cy="402336"/>
          </a:xfrm>
          <a:prstGeom prst="rect">
            <a:avLst/>
          </a:prstGeom>
          <a:solidFill>
            <a:srgbClr val="FFFFFF"/>
          </a:solidFill>
          <a:ln w="6350">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ectangle 27"/>
          <p:cNvSpPr/>
          <p:nvPr/>
        </p:nvSpPr>
        <p:spPr>
          <a:xfrm>
            <a:off x="475488" y="4992623"/>
            <a:ext cx="36576" cy="402336"/>
          </a:xfrm>
          <a:prstGeom prst="rect">
            <a:avLst/>
          </a:prstGeom>
          <a:solidFill>
            <a:srgbClr val="B87B1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640080" y="4992623"/>
            <a:ext cx="5257800" cy="402336"/>
          </a:xfrm>
          <a:prstGeom prst="rect">
            <a:avLst/>
          </a:prstGeom>
          <a:noFill/>
        </p:spPr>
        <p:txBody>
          <a:bodyPr wrap="square" lIns="0" tIns="0" rIns="0" bIns="0" anchor="ctr">
            <a:spAutoFit/>
          </a:bodyPr>
          <a:lstStyle/>
          <a:p>
            <a:pPr algn="l"/>
            <a:r>
              <a:rPr sz="1050" b="1" i="0" u="none">
                <a:solidFill>
                  <a:srgbClr val="12261C"/>
                </a:solidFill>
                <a:latin typeface="Arial"/>
              </a:rPr>
              <a:t>Team ID-  </a:t>
            </a:r>
            <a:r>
              <a:rPr sz="1050" b="1" i="0" u="none">
                <a:solidFill>
                  <a:srgbClr val="B87B1F"/>
                </a:solidFill>
                <a:latin typeface="Arial"/>
              </a:rPr>
              <a:t>« Team ID »</a:t>
            </a:r>
          </a:p>
        </p:txBody>
      </p:sp>
      <p:sp>
        <p:nvSpPr>
          <p:cNvPr id="30" name="Rectangle 29"/>
          <p:cNvSpPr/>
          <p:nvPr/>
        </p:nvSpPr>
        <p:spPr>
          <a:xfrm>
            <a:off x="475488" y="5426963"/>
            <a:ext cx="5532120" cy="402336"/>
          </a:xfrm>
          <a:prstGeom prst="rect">
            <a:avLst/>
          </a:prstGeom>
          <a:solidFill>
            <a:srgbClr val="FFFFFF"/>
          </a:solidFill>
          <a:ln w="6350">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475488" y="5426963"/>
            <a:ext cx="36576" cy="402336"/>
          </a:xfrm>
          <a:prstGeom prst="rect">
            <a:avLst/>
          </a:prstGeom>
          <a:solidFill>
            <a:srgbClr val="B87B1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40080" y="5426963"/>
            <a:ext cx="5257800" cy="402336"/>
          </a:xfrm>
          <a:prstGeom prst="rect">
            <a:avLst/>
          </a:prstGeom>
          <a:noFill/>
        </p:spPr>
        <p:txBody>
          <a:bodyPr wrap="square" lIns="0" tIns="0" rIns="0" bIns="0" anchor="ctr">
            <a:spAutoFit/>
          </a:bodyPr>
          <a:lstStyle/>
          <a:p>
            <a:pPr algn="l"/>
            <a:r>
              <a:rPr sz="1050" b="1" i="0" u="none">
                <a:solidFill>
                  <a:srgbClr val="12261C"/>
                </a:solidFill>
                <a:latin typeface="Arial"/>
              </a:rPr>
              <a:t>Team Name (Registered on portal)-  </a:t>
            </a:r>
            <a:r>
              <a:rPr sz="1050" b="1" i="0" u="none">
                <a:solidFill>
                  <a:srgbClr val="B87B1F"/>
                </a:solidFill>
                <a:latin typeface="Arial"/>
              </a:rPr>
              <a:t>« Team Name »</a:t>
            </a:r>
          </a:p>
        </p:txBody>
      </p:sp>
      <p:pic>
        <p:nvPicPr>
          <p:cNvPr id="33" name="Picture 32" descr="leaf_tulsi_solid.png"/>
          <p:cNvPicPr>
            <a:picLocks noChangeAspect="1"/>
          </p:cNvPicPr>
          <p:nvPr/>
        </p:nvPicPr>
        <p:blipFill>
          <a:blip r:embed="rId4"/>
          <a:stretch>
            <a:fillRect/>
          </a:stretch>
        </p:blipFill>
        <p:spPr>
          <a:xfrm>
            <a:off x="502920" y="5852160"/>
            <a:ext cx="268412" cy="438912"/>
          </a:xfrm>
          <a:prstGeom prst="rect">
            <a:avLst/>
          </a:prstGeom>
        </p:spPr>
      </p:pic>
      <p:pic>
        <p:nvPicPr>
          <p:cNvPr id="34" name="Picture 33" descr="leaf_neem_solid.png"/>
          <p:cNvPicPr>
            <a:picLocks noChangeAspect="1"/>
          </p:cNvPicPr>
          <p:nvPr/>
        </p:nvPicPr>
        <p:blipFill>
          <a:blip r:embed="rId5"/>
          <a:stretch>
            <a:fillRect/>
          </a:stretch>
        </p:blipFill>
        <p:spPr>
          <a:xfrm>
            <a:off x="926780" y="5852160"/>
            <a:ext cx="189070" cy="438912"/>
          </a:xfrm>
          <a:prstGeom prst="rect">
            <a:avLst/>
          </a:prstGeom>
        </p:spPr>
      </p:pic>
      <p:pic>
        <p:nvPicPr>
          <p:cNvPr id="35" name="Picture 34" descr="leaf_giloy_solid.png"/>
          <p:cNvPicPr>
            <a:picLocks noChangeAspect="1"/>
          </p:cNvPicPr>
          <p:nvPr/>
        </p:nvPicPr>
        <p:blipFill>
          <a:blip r:embed="rId6"/>
          <a:stretch>
            <a:fillRect/>
          </a:stretch>
        </p:blipFill>
        <p:spPr>
          <a:xfrm>
            <a:off x="1271298" y="5852160"/>
            <a:ext cx="420343" cy="438912"/>
          </a:xfrm>
          <a:prstGeom prst="rect">
            <a:avLst/>
          </a:prstGeom>
        </p:spPr>
      </p:pic>
      <p:pic>
        <p:nvPicPr>
          <p:cNvPr id="36" name="Picture 35" descr="leaf_lemongrass_solid.png"/>
          <p:cNvPicPr>
            <a:picLocks noChangeAspect="1"/>
          </p:cNvPicPr>
          <p:nvPr/>
        </p:nvPicPr>
        <p:blipFill>
          <a:blip r:embed="rId7"/>
          <a:stretch>
            <a:fillRect/>
          </a:stretch>
        </p:blipFill>
        <p:spPr>
          <a:xfrm>
            <a:off x="1847088" y="5852160"/>
            <a:ext cx="46423" cy="438912"/>
          </a:xfrm>
          <a:prstGeom prst="rect">
            <a:avLst/>
          </a:prstGeom>
        </p:spPr>
      </p:pic>
      <p:pic>
        <p:nvPicPr>
          <p:cNvPr id="37" name="Picture 36" descr="leaf_aloe_solid.png"/>
          <p:cNvPicPr>
            <a:picLocks noChangeAspect="1"/>
          </p:cNvPicPr>
          <p:nvPr/>
        </p:nvPicPr>
        <p:blipFill>
          <a:blip r:embed="rId8"/>
          <a:stretch>
            <a:fillRect/>
          </a:stretch>
        </p:blipFill>
        <p:spPr>
          <a:xfrm>
            <a:off x="2048959" y="5852160"/>
            <a:ext cx="83562" cy="438912"/>
          </a:xfrm>
          <a:prstGeom prst="rect">
            <a:avLst/>
          </a:prstGeom>
        </p:spPr>
      </p:pic>
      <p:pic>
        <p:nvPicPr>
          <p:cNvPr id="38" name="Picture 37" descr="leaf_mandukaparni_solid.png"/>
          <p:cNvPicPr>
            <a:picLocks noChangeAspect="1"/>
          </p:cNvPicPr>
          <p:nvPr/>
        </p:nvPicPr>
        <p:blipFill>
          <a:blip r:embed="rId9"/>
          <a:stretch>
            <a:fillRect/>
          </a:stretch>
        </p:blipFill>
        <p:spPr>
          <a:xfrm>
            <a:off x="2287969" y="5852160"/>
            <a:ext cx="508969" cy="438912"/>
          </a:xfrm>
          <a:prstGeom prst="rect">
            <a:avLst/>
          </a:prstGeom>
        </p:spPr>
      </p:pic>
      <p:sp>
        <p:nvSpPr>
          <p:cNvPr id="39" name="TextBox 38"/>
          <p:cNvSpPr txBox="1"/>
          <p:nvPr/>
        </p:nvSpPr>
        <p:spPr>
          <a:xfrm>
            <a:off x="3043827" y="5852160"/>
            <a:ext cx="3036933" cy="457200"/>
          </a:xfrm>
          <a:prstGeom prst="rect">
            <a:avLst/>
          </a:prstGeom>
          <a:noFill/>
        </p:spPr>
        <p:txBody>
          <a:bodyPr wrap="square" lIns="0" tIns="0" rIns="0" bIns="0" anchor="ctr">
            <a:spAutoFit/>
          </a:bodyPr>
          <a:lstStyle/>
          <a:p>
            <a:pPr algn="l">
              <a:lnSpc>
                <a:spcPct val="105000"/>
              </a:lnSpc>
            </a:pPr>
            <a:r>
              <a:rPr sz="800" b="0" i="1" u="none">
                <a:solidFill>
                  <a:srgbClr val="8A978D"/>
                </a:solidFill>
                <a:latin typeface="Arial"/>
              </a:rPr>
              <a:t>Every silhouette is drawn by the same leaf-profile function that grows the 3D plants.</a:t>
            </a:r>
          </a:p>
        </p:txBody>
      </p:sp>
      <p:sp>
        <p:nvSpPr>
          <p:cNvPr id="40" name="IMAGE PLACEHOLDER - IMAGE 1"/>
          <p:cNvSpPr/>
          <p:nvPr/>
        </p:nvSpPr>
        <p:spPr>
          <a:xfrm>
            <a:off x="6455664" y="1389888"/>
            <a:ext cx="5422392" cy="3310128"/>
          </a:xfrm>
          <a:prstGeom prst="roundRect">
            <a:avLst>
              <a:gd name="adj" fmla="val 5000"/>
            </a:avLst>
          </a:prstGeom>
          <a:solidFill>
            <a:srgbClr val="ECF1EA"/>
          </a:solid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656831" y="1389888"/>
            <a:ext cx="5020055" cy="3310128"/>
          </a:xfrm>
          <a:prstGeom prst="rect">
            <a:avLst/>
          </a:prstGeom>
          <a:noFill/>
        </p:spPr>
        <p:txBody>
          <a:bodyPr wrap="square" lIns="0" tIns="0" rIns="0" bIns="0" anchor="ctr">
            <a:spAutoFit/>
          </a:bodyPr>
          <a:lstStyle/>
          <a:p>
            <a:pPr algn="ctr"/>
            <a:r>
              <a:rPr sz="1050" b="1" i="0" u="none" spc="120">
                <a:solidFill>
                  <a:srgbClr val="1E6B45"/>
                </a:solidFill>
                <a:latin typeface="Arial"/>
              </a:rPr>
              <a:t>IMAGE 1</a:t>
            </a:r>
          </a:p>
          <a:p>
            <a:pPr algn="ctr">
              <a:spcBef>
                <a:spcPts val="400"/>
              </a:spcBef>
            </a:pPr>
            <a:r>
              <a:rPr sz="900" b="0" i="1" u="none">
                <a:solidFill>
                  <a:srgbClr val="5B6B60"/>
                </a:solidFill>
                <a:latin typeface="Arial"/>
              </a:rPr>
              <a:t>Hero render — the garden seen from above</a:t>
            </a:r>
          </a:p>
          <a:p>
            <a:pPr algn="ctr">
              <a:spcBef>
                <a:spcPts val="500"/>
              </a:spcBef>
            </a:pPr>
            <a:r>
              <a:rPr sz="750" b="0" i="0" u="none">
                <a:solidFill>
                  <a:srgbClr val="8A978D"/>
                </a:solidFill>
                <a:latin typeface="Arial"/>
              </a:rPr>
              <a:t>replace with the AI image (prompt 1)</a:t>
            </a:r>
          </a:p>
        </p:txBody>
      </p:sp>
      <p:sp>
        <p:nvSpPr>
          <p:cNvPr id="42" name="Rounded Rectangle 41"/>
          <p:cNvSpPr/>
          <p:nvPr/>
        </p:nvSpPr>
        <p:spPr>
          <a:xfrm>
            <a:off x="6455664" y="4901184"/>
            <a:ext cx="1261872" cy="786384"/>
          </a:xfrm>
          <a:prstGeom prst="roundRect">
            <a:avLst>
              <a:gd name="adj" fmla="val 12000"/>
            </a:avLst>
          </a:prstGeom>
          <a:solidFill>
            <a:srgbClr val="1A4030"/>
          </a:solidFill>
          <a:ln w="9525">
            <a:solidFill>
              <a:srgbClr val="2C5A4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6455664" y="4901184"/>
            <a:ext cx="1261872" cy="786384"/>
          </a:xfrm>
          <a:prstGeom prst="rect">
            <a:avLst/>
          </a:prstGeom>
          <a:noFill/>
        </p:spPr>
        <p:txBody>
          <a:bodyPr wrap="square" lIns="0" tIns="0" rIns="0" bIns="0" anchor="ctr">
            <a:spAutoFit/>
          </a:bodyPr>
          <a:lstStyle/>
          <a:p>
            <a:pPr algn="ctr"/>
            <a:r>
              <a:rPr sz="1900" b="1" i="0" u="none">
                <a:solidFill>
                  <a:srgbClr val="9ED4A8"/>
                </a:solidFill>
                <a:latin typeface="Times New Roman"/>
              </a:rPr>
              <a:t>25</a:t>
            </a:r>
          </a:p>
          <a:p>
            <a:pPr algn="ctr">
              <a:spcBef>
                <a:spcPts val="100"/>
              </a:spcBef>
            </a:pPr>
            <a:r>
              <a:rPr sz="750" b="0" i="0" u="none">
                <a:solidFill>
                  <a:srgbClr val="B8CBBE"/>
                </a:solidFill>
                <a:latin typeface="Arial"/>
              </a:rPr>
              <a:t>AYUSH species</a:t>
            </a:r>
          </a:p>
        </p:txBody>
      </p:sp>
      <p:sp>
        <p:nvSpPr>
          <p:cNvPr id="44" name="Rounded Rectangle 43"/>
          <p:cNvSpPr/>
          <p:nvPr/>
        </p:nvSpPr>
        <p:spPr>
          <a:xfrm>
            <a:off x="7836408" y="4901184"/>
            <a:ext cx="1261872" cy="786384"/>
          </a:xfrm>
          <a:prstGeom prst="roundRect">
            <a:avLst>
              <a:gd name="adj" fmla="val 12000"/>
            </a:avLst>
          </a:prstGeom>
          <a:solidFill>
            <a:srgbClr val="1A4030"/>
          </a:solidFill>
          <a:ln w="9525">
            <a:solidFill>
              <a:srgbClr val="2C5A4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836408" y="4901184"/>
            <a:ext cx="1261872" cy="786384"/>
          </a:xfrm>
          <a:prstGeom prst="rect">
            <a:avLst/>
          </a:prstGeom>
          <a:noFill/>
        </p:spPr>
        <p:txBody>
          <a:bodyPr wrap="square" lIns="0" tIns="0" rIns="0" bIns="0" anchor="ctr">
            <a:spAutoFit/>
          </a:bodyPr>
          <a:lstStyle/>
          <a:p>
            <a:pPr algn="ctr"/>
            <a:r>
              <a:rPr sz="1900" b="1" i="0" u="none">
                <a:solidFill>
                  <a:srgbClr val="9ED4A8"/>
                </a:solidFill>
                <a:latin typeface="Times New Roman"/>
              </a:rPr>
              <a:t>6</a:t>
            </a:r>
          </a:p>
          <a:p>
            <a:pPr algn="ctr">
              <a:spcBef>
                <a:spcPts val="100"/>
              </a:spcBef>
            </a:pPr>
            <a:r>
              <a:rPr sz="750" b="0" i="0" u="none">
                <a:solidFill>
                  <a:srgbClr val="B8CBBE"/>
                </a:solidFill>
                <a:latin typeface="Arial"/>
              </a:rPr>
              <a:t>themed beds</a:t>
            </a:r>
          </a:p>
        </p:txBody>
      </p:sp>
      <p:sp>
        <p:nvSpPr>
          <p:cNvPr id="46" name="Rounded Rectangle 45"/>
          <p:cNvSpPr/>
          <p:nvPr/>
        </p:nvSpPr>
        <p:spPr>
          <a:xfrm>
            <a:off x="9217152" y="4901184"/>
            <a:ext cx="1261872" cy="786384"/>
          </a:xfrm>
          <a:prstGeom prst="roundRect">
            <a:avLst>
              <a:gd name="adj" fmla="val 12000"/>
            </a:avLst>
          </a:prstGeom>
          <a:solidFill>
            <a:srgbClr val="1A4030"/>
          </a:solidFill>
          <a:ln w="9525">
            <a:solidFill>
              <a:srgbClr val="2C5A4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9217152" y="4901184"/>
            <a:ext cx="1261872" cy="786384"/>
          </a:xfrm>
          <a:prstGeom prst="rect">
            <a:avLst/>
          </a:prstGeom>
          <a:noFill/>
        </p:spPr>
        <p:txBody>
          <a:bodyPr wrap="square" lIns="0" tIns="0" rIns="0" bIns="0" anchor="ctr">
            <a:spAutoFit/>
          </a:bodyPr>
          <a:lstStyle/>
          <a:p>
            <a:pPr algn="ctr"/>
            <a:r>
              <a:rPr sz="1900" b="1" i="0" u="none">
                <a:solidFill>
                  <a:srgbClr val="9ED4A8"/>
                </a:solidFill>
                <a:latin typeface="Times New Roman"/>
              </a:rPr>
              <a:t>6</a:t>
            </a:r>
          </a:p>
          <a:p>
            <a:pPr algn="ctr">
              <a:spcBef>
                <a:spcPts val="100"/>
              </a:spcBef>
            </a:pPr>
            <a:r>
              <a:rPr sz="750" b="0" i="0" u="none">
                <a:solidFill>
                  <a:srgbClr val="B8CBBE"/>
                </a:solidFill>
                <a:latin typeface="Arial"/>
              </a:rPr>
              <a:t>guided tours</a:t>
            </a:r>
          </a:p>
        </p:txBody>
      </p:sp>
      <p:sp>
        <p:nvSpPr>
          <p:cNvPr id="48" name="Rounded Rectangle 47"/>
          <p:cNvSpPr/>
          <p:nvPr/>
        </p:nvSpPr>
        <p:spPr>
          <a:xfrm>
            <a:off x="10597896" y="4901184"/>
            <a:ext cx="1261872" cy="786384"/>
          </a:xfrm>
          <a:prstGeom prst="roundRect">
            <a:avLst>
              <a:gd name="adj" fmla="val 12000"/>
            </a:avLst>
          </a:prstGeom>
          <a:solidFill>
            <a:srgbClr val="1A4030"/>
          </a:solidFill>
          <a:ln w="9525">
            <a:solidFill>
              <a:srgbClr val="2C5A4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10597896" y="4901184"/>
            <a:ext cx="1261872" cy="786384"/>
          </a:xfrm>
          <a:prstGeom prst="rect">
            <a:avLst/>
          </a:prstGeom>
          <a:noFill/>
        </p:spPr>
        <p:txBody>
          <a:bodyPr wrap="square" lIns="0" tIns="0" rIns="0" bIns="0" anchor="ctr">
            <a:spAutoFit/>
          </a:bodyPr>
          <a:lstStyle/>
          <a:p>
            <a:pPr algn="ctr"/>
            <a:r>
              <a:rPr sz="1900" b="1" i="0" u="none">
                <a:solidFill>
                  <a:srgbClr val="9ED4A8"/>
                </a:solidFill>
                <a:latin typeface="Times New Roman"/>
              </a:rPr>
              <a:t>0</a:t>
            </a:r>
          </a:p>
          <a:p>
            <a:pPr algn="ctr">
              <a:spcBef>
                <a:spcPts val="100"/>
              </a:spcBef>
            </a:pPr>
            <a:r>
              <a:rPr sz="750" b="0" i="0" u="none">
                <a:solidFill>
                  <a:srgbClr val="B8CBBE"/>
                </a:solidFill>
                <a:latin typeface="Arial"/>
              </a:rPr>
              <a:t>downloaded assets</a:t>
            </a:r>
          </a:p>
        </p:txBody>
      </p:sp>
      <p:sp>
        <p:nvSpPr>
          <p:cNvPr id="50" name="TextBox 49"/>
          <p:cNvSpPr txBox="1"/>
          <p:nvPr/>
        </p:nvSpPr>
        <p:spPr>
          <a:xfrm>
            <a:off x="6455664" y="5797296"/>
            <a:ext cx="5422392" cy="274320"/>
          </a:xfrm>
          <a:prstGeom prst="rect">
            <a:avLst/>
          </a:prstGeom>
          <a:noFill/>
        </p:spPr>
        <p:txBody>
          <a:bodyPr wrap="square" lIns="0" tIns="0" rIns="0" bIns="0" anchor="t">
            <a:spAutoFit/>
          </a:bodyPr>
          <a:lstStyle/>
          <a:p>
            <a:pPr algn="ctr"/>
            <a:r>
              <a:rPr sz="900" b="0" i="1" u="none">
                <a:solidFill>
                  <a:srgbClr val="9FB7A6"/>
                </a:solidFill>
                <a:latin typeface="Arial"/>
              </a:rPr>
              <a:t>Twenty-five species. Not one downloaded model, texture or photograph.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par>
                    <p:cTn id="8" fill="hold">
                      <p:stCondLst>
                        <p:cond delay="12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12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700" fill="hold"/>
                                        <p:tgtEl>
                                          <p:spTgt spid="12"/>
                                        </p:tgtEl>
                                        <p:attrNameLst>
                                          <p:attrName>ppt_y</p:attrName>
                                        </p:attrNameLst>
                                      </p:cBhvr>
                                      <p:tavLst>
                                        <p:tav tm="0">
                                          <p:val>
                                            <p:strVal val="#ppt_y+.035"/>
                                          </p:val>
                                        </p:tav>
                                        <p:tav tm="100000">
                                          <p:val>
                                            <p:strVal val="#ppt_y"/>
                                          </p:val>
                                        </p:tav>
                                      </p:tavLst>
                                    </p:anim>
                                    <p:animEffect transition="in" filter="fade">
                                      <p:cBhvr>
                                        <p:cTn id="18" dur="700"/>
                                        <p:tgtEl>
                                          <p:spTgt spid="12"/>
                                        </p:tgtEl>
                                      </p:cBhvr>
                                    </p:animEffect>
                                  </p:childTnLst>
                                </p:cTn>
                              </p:par>
                            </p:childTnLst>
                          </p:cTn>
                        </p:par>
                      </p:childTnLst>
                    </p:cTn>
                  </p:par>
                  <p:par>
                    <p:cTn id="19" fill="hold">
                      <p:stCondLst>
                        <p:cond delay="100"/>
                      </p:stCondLst>
                      <p:childTnLst>
                        <p:par>
                          <p:cTn id="20" fill="hold">
                            <p:stCondLst>
                              <p:cond delay="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50"/>
                                        <p:tgtEl>
                                          <p:spTgt spid="13"/>
                                        </p:tgtEl>
                                      </p:cBhvr>
                                    </p:animEffect>
                                  </p:childTnLst>
                                </p:cTn>
                              </p:par>
                            </p:childTnLst>
                          </p:cTn>
                        </p:par>
                      </p:childTnLst>
                    </p:cTn>
                  </p:par>
                  <p:par>
                    <p:cTn id="24" fill="hold">
                      <p:stCondLst>
                        <p:cond delay="150"/>
                      </p:stCondLst>
                      <p:childTnLst>
                        <p:par>
                          <p:cTn id="25" fill="hold">
                            <p:stCondLst>
                              <p:cond delay="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50" fill="hold"/>
                                        <p:tgtEl>
                                          <p:spTgt spid="14"/>
                                        </p:tgtEl>
                                        <p:attrNameLst>
                                          <p:attrName>ppt_y</p:attrName>
                                        </p:attrNameLst>
                                      </p:cBhvr>
                                      <p:tavLst>
                                        <p:tav tm="0">
                                          <p:val>
                                            <p:strVal val="#ppt_y+.035"/>
                                          </p:val>
                                        </p:tav>
                                        <p:tav tm="100000">
                                          <p:val>
                                            <p:strVal val="#ppt_y"/>
                                          </p:val>
                                        </p:tav>
                                      </p:tavLst>
                                    </p:anim>
                                    <p:animEffect transition="in" filter="fade">
                                      <p:cBhvr>
                                        <p:cTn id="29" dur="550"/>
                                        <p:tgtEl>
                                          <p:spTgt spid="14"/>
                                        </p:tgtEl>
                                      </p:cBhvr>
                                    </p:animEffect>
                                  </p:childTnLst>
                                </p:cTn>
                              </p:par>
                            </p:childTnLst>
                          </p:cTn>
                        </p:par>
                      </p:childTnLst>
                    </p:cTn>
                  </p:par>
                  <p:par>
                    <p:cTn id="30" fill="hold">
                      <p:stCondLst>
                        <p:cond delay="20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80"/>
                                        <p:tgtEl>
                                          <p:spTgt spid="15"/>
                                        </p:tgtEl>
                                      </p:cBhvr>
                                    </p:animEffect>
                                  </p:childTnLst>
                                </p:cTn>
                              </p:par>
                            </p:childTnLst>
                          </p:cTn>
                        </p:par>
                      </p:childTnLst>
                    </p:cTn>
                  </p:par>
                  <p:par>
                    <p:cTn id="35" fill="hold">
                      <p:stCondLst>
                        <p:cond delay="270"/>
                      </p:stCondLst>
                      <p:childTnLst>
                        <p:par>
                          <p:cTn id="36" fill="hold">
                            <p:stCondLst>
                              <p:cond delay="0"/>
                            </p:stCondLst>
                            <p:childTnLst>
                              <p:par>
                                <p:cTn id="37" presetID="10"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80"/>
                                        <p:tgtEl>
                                          <p:spTgt spid="18"/>
                                        </p:tgtEl>
                                      </p:cBhvr>
                                    </p:animEffect>
                                  </p:childTnLst>
                                </p:cTn>
                              </p:par>
                            </p:childTnLst>
                          </p:cTn>
                        </p:par>
                      </p:childTnLst>
                    </p:cTn>
                  </p:par>
                  <p:par>
                    <p:cTn id="40" fill="hold">
                      <p:stCondLst>
                        <p:cond delay="34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380"/>
                                        <p:tgtEl>
                                          <p:spTgt spid="21"/>
                                        </p:tgtEl>
                                      </p:cBhvr>
                                    </p:animEffect>
                                  </p:childTnLst>
                                </p:cTn>
                              </p:par>
                            </p:childTnLst>
                          </p:cTn>
                        </p:par>
                      </p:childTnLst>
                    </p:cTn>
                  </p:par>
                  <p:par>
                    <p:cTn id="45" fill="hold">
                      <p:stCondLst>
                        <p:cond delay="410"/>
                      </p:stCondLst>
                      <p:childTnLst>
                        <p:par>
                          <p:cTn id="46" fill="hold">
                            <p:stCondLst>
                              <p:cond delay="0"/>
                            </p:stCondLst>
                            <p:childTnLst>
                              <p:par>
                                <p:cTn id="47" presetID="10" presetClass="entr" presetSubtype="0"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380"/>
                                        <p:tgtEl>
                                          <p:spTgt spid="24"/>
                                        </p:tgtEl>
                                      </p:cBhvr>
                                    </p:animEffect>
                                  </p:childTnLst>
                                </p:cTn>
                              </p:par>
                            </p:childTnLst>
                          </p:cTn>
                        </p:par>
                      </p:childTnLst>
                    </p:cTn>
                  </p:par>
                  <p:par>
                    <p:cTn id="50" fill="hold">
                      <p:stCondLst>
                        <p:cond delay="48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380"/>
                                        <p:tgtEl>
                                          <p:spTgt spid="27"/>
                                        </p:tgtEl>
                                      </p:cBhvr>
                                    </p:animEffect>
                                  </p:childTnLst>
                                </p:cTn>
                              </p:par>
                            </p:childTnLst>
                          </p:cTn>
                        </p:par>
                      </p:childTnLst>
                    </p:cTn>
                  </p:par>
                  <p:par>
                    <p:cTn id="55" fill="hold">
                      <p:stCondLst>
                        <p:cond delay="550"/>
                      </p:stCondLst>
                      <p:childTnLst>
                        <p:par>
                          <p:cTn id="56" fill="hold">
                            <p:stCondLst>
                              <p:cond delay="0"/>
                            </p:stCondLst>
                            <p:childTnLst>
                              <p:par>
                                <p:cTn id="57" presetID="10" presetClass="entr" presetSubtype="0"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380"/>
                                        <p:tgtEl>
                                          <p:spTgt spid="30"/>
                                        </p:tgtEl>
                                      </p:cBhvr>
                                    </p:animEffect>
                                  </p:childTnLst>
                                </p:cTn>
                              </p:par>
                            </p:childTnLst>
                          </p:cTn>
                        </p:par>
                      </p:childTnLst>
                    </p:cTn>
                  </p:par>
                  <p:par>
                    <p:cTn id="60" fill="hold">
                      <p:stCondLst>
                        <p:cond delay="260"/>
                      </p:stCondLst>
                      <p:childTnLst>
                        <p:par>
                          <p:cTn id="61" fill="hold">
                            <p:stCondLst>
                              <p:cond delay="0"/>
                            </p:stCondLst>
                            <p:childTnLst>
                              <p:par>
                                <p:cTn id="62" presetID="23" presetClass="entr" presetSubtype="16" fill="hold" grpId="0" nodeType="after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700"/>
                                        <p:tgtEl>
                                          <p:spTgt spid="40"/>
                                        </p:tgtEl>
                                      </p:cBhvr>
                                    </p:animEffect>
                                  </p:childTnLst>
                                </p:cTn>
                              </p:par>
                            </p:childTnLst>
                          </p:cTn>
                        </p:par>
                      </p:childTnLst>
                    </p:cTn>
                  </p:par>
                  <p:par>
                    <p:cTn id="65" fill="hold">
                      <p:stCondLst>
                        <p:cond delay="200"/>
                      </p:stCondLst>
                      <p:childTnLst>
                        <p:par>
                          <p:cTn id="66" fill="hold">
                            <p:stCondLst>
                              <p:cond delay="0"/>
                            </p:stCondLst>
                            <p:childTnLst>
                              <p:par>
                                <p:cTn id="67" presetID="10" presetClass="entr" presetSubtype="0" fill="hold" grpId="0" nodeType="after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420" fill="hold"/>
                                        <p:tgtEl>
                                          <p:spTgt spid="42"/>
                                        </p:tgtEl>
                                        <p:attrNameLst>
                                          <p:attrName>ppt_y</p:attrName>
                                        </p:attrNameLst>
                                      </p:cBhvr>
                                      <p:tavLst>
                                        <p:tav tm="0">
                                          <p:val>
                                            <p:strVal val="#ppt_y+.035"/>
                                          </p:val>
                                        </p:tav>
                                        <p:tav tm="100000">
                                          <p:val>
                                            <p:strVal val="#ppt_y"/>
                                          </p:val>
                                        </p:tav>
                                      </p:tavLst>
                                    </p:anim>
                                    <p:animEffect transition="in" filter="fade">
                                      <p:cBhvr>
                                        <p:cTn id="70" dur="420"/>
                                        <p:tgtEl>
                                          <p:spTgt spid="42"/>
                                        </p:tgtEl>
                                      </p:cBhvr>
                                    </p:animEffect>
                                  </p:childTnLst>
                                </p:cTn>
                              </p:par>
                            </p:childTnLst>
                          </p:cTn>
                        </p:par>
                      </p:childTnLst>
                    </p:cTn>
                  </p:par>
                  <p:par>
                    <p:cTn id="71" fill="hold">
                      <p:stCondLst>
                        <p:cond delay="290"/>
                      </p:stCondLst>
                      <p:childTnLst>
                        <p:par>
                          <p:cTn id="72" fill="hold">
                            <p:stCondLst>
                              <p:cond delay="0"/>
                            </p:stCondLst>
                            <p:childTnLst>
                              <p:par>
                                <p:cTn id="73" presetID="10" presetClass="entr" presetSubtype="0" fill="hold" grpId="0" nodeType="afterEffect">
                                  <p:stCondLst>
                                    <p:cond delay="0"/>
                                  </p:stCondLst>
                                  <p:childTnLst>
                                    <p:set>
                                      <p:cBhvr>
                                        <p:cTn id="74" dur="1" fill="hold">
                                          <p:stCondLst>
                                            <p:cond delay="0"/>
                                          </p:stCondLst>
                                        </p:cTn>
                                        <p:tgtEl>
                                          <p:spTgt spid="44"/>
                                        </p:tgtEl>
                                        <p:attrNameLst>
                                          <p:attrName>style.visibility</p:attrName>
                                        </p:attrNameLst>
                                      </p:cBhvr>
                                      <p:to>
                                        <p:strVal val="visible"/>
                                      </p:to>
                                    </p:set>
                                    <p:anim calcmode="lin" valueType="num">
                                      <p:cBhvr additive="base">
                                        <p:cTn id="75" dur="420" fill="hold"/>
                                        <p:tgtEl>
                                          <p:spTgt spid="44"/>
                                        </p:tgtEl>
                                        <p:attrNameLst>
                                          <p:attrName>ppt_y</p:attrName>
                                        </p:attrNameLst>
                                      </p:cBhvr>
                                      <p:tavLst>
                                        <p:tav tm="0">
                                          <p:val>
                                            <p:strVal val="#ppt_y+.035"/>
                                          </p:val>
                                        </p:tav>
                                        <p:tav tm="100000">
                                          <p:val>
                                            <p:strVal val="#ppt_y"/>
                                          </p:val>
                                        </p:tav>
                                      </p:tavLst>
                                    </p:anim>
                                    <p:animEffect transition="in" filter="fade">
                                      <p:cBhvr>
                                        <p:cTn id="76" dur="420"/>
                                        <p:tgtEl>
                                          <p:spTgt spid="44"/>
                                        </p:tgtEl>
                                      </p:cBhvr>
                                    </p:animEffect>
                                  </p:childTnLst>
                                </p:cTn>
                              </p:par>
                            </p:childTnLst>
                          </p:cTn>
                        </p:par>
                      </p:childTnLst>
                    </p:cTn>
                  </p:par>
                  <p:par>
                    <p:cTn id="77" fill="hold">
                      <p:stCondLst>
                        <p:cond delay="380"/>
                      </p:stCondLst>
                      <p:childTnLst>
                        <p:par>
                          <p:cTn id="78" fill="hold">
                            <p:stCondLst>
                              <p:cond delay="0"/>
                            </p:stCondLst>
                            <p:childTnLst>
                              <p:par>
                                <p:cTn id="79" presetID="10" presetClass="entr" presetSubtype="0" fill="hold" grpId="0" nodeType="afterEffect">
                                  <p:stCondLst>
                                    <p:cond delay="0"/>
                                  </p:stCondLst>
                                  <p:childTnLst>
                                    <p:set>
                                      <p:cBhvr>
                                        <p:cTn id="80" dur="1" fill="hold">
                                          <p:stCondLst>
                                            <p:cond delay="0"/>
                                          </p:stCondLst>
                                        </p:cTn>
                                        <p:tgtEl>
                                          <p:spTgt spid="46"/>
                                        </p:tgtEl>
                                        <p:attrNameLst>
                                          <p:attrName>style.visibility</p:attrName>
                                        </p:attrNameLst>
                                      </p:cBhvr>
                                      <p:to>
                                        <p:strVal val="visible"/>
                                      </p:to>
                                    </p:set>
                                    <p:anim calcmode="lin" valueType="num">
                                      <p:cBhvr additive="base">
                                        <p:cTn id="81" dur="420" fill="hold"/>
                                        <p:tgtEl>
                                          <p:spTgt spid="46"/>
                                        </p:tgtEl>
                                        <p:attrNameLst>
                                          <p:attrName>ppt_y</p:attrName>
                                        </p:attrNameLst>
                                      </p:cBhvr>
                                      <p:tavLst>
                                        <p:tav tm="0">
                                          <p:val>
                                            <p:strVal val="#ppt_y+.035"/>
                                          </p:val>
                                        </p:tav>
                                        <p:tav tm="100000">
                                          <p:val>
                                            <p:strVal val="#ppt_y"/>
                                          </p:val>
                                        </p:tav>
                                      </p:tavLst>
                                    </p:anim>
                                    <p:animEffect transition="in" filter="fade">
                                      <p:cBhvr>
                                        <p:cTn id="82" dur="420"/>
                                        <p:tgtEl>
                                          <p:spTgt spid="46"/>
                                        </p:tgtEl>
                                      </p:cBhvr>
                                    </p:animEffect>
                                  </p:childTnLst>
                                </p:cTn>
                              </p:par>
                            </p:childTnLst>
                          </p:cTn>
                        </p:par>
                      </p:childTnLst>
                    </p:cTn>
                  </p:par>
                  <p:par>
                    <p:cTn id="83" fill="hold">
                      <p:stCondLst>
                        <p:cond delay="470"/>
                      </p:stCondLst>
                      <p:childTnLst>
                        <p:par>
                          <p:cTn id="84" fill="hold">
                            <p:stCondLst>
                              <p:cond delay="0"/>
                            </p:stCondLst>
                            <p:childTnLst>
                              <p:par>
                                <p:cTn id="85" presetID="10" presetClass="entr" presetSubtype="0" fill="hold" grpId="0" nodeType="afterEffect">
                                  <p:stCondLst>
                                    <p:cond delay="0"/>
                                  </p:stCondLst>
                                  <p:childTnLst>
                                    <p:set>
                                      <p:cBhvr>
                                        <p:cTn id="86" dur="1" fill="hold">
                                          <p:stCondLst>
                                            <p:cond delay="0"/>
                                          </p:stCondLst>
                                        </p:cTn>
                                        <p:tgtEl>
                                          <p:spTgt spid="48"/>
                                        </p:tgtEl>
                                        <p:attrNameLst>
                                          <p:attrName>style.visibility</p:attrName>
                                        </p:attrNameLst>
                                      </p:cBhvr>
                                      <p:to>
                                        <p:strVal val="visible"/>
                                      </p:to>
                                    </p:set>
                                    <p:anim calcmode="lin" valueType="num">
                                      <p:cBhvr additive="base">
                                        <p:cTn id="87" dur="420" fill="hold"/>
                                        <p:tgtEl>
                                          <p:spTgt spid="48"/>
                                        </p:tgtEl>
                                        <p:attrNameLst>
                                          <p:attrName>ppt_y</p:attrName>
                                        </p:attrNameLst>
                                      </p:cBhvr>
                                      <p:tavLst>
                                        <p:tav tm="0">
                                          <p:val>
                                            <p:strVal val="#ppt_y+.035"/>
                                          </p:val>
                                        </p:tav>
                                        <p:tav tm="100000">
                                          <p:val>
                                            <p:strVal val="#ppt_y"/>
                                          </p:val>
                                        </p:tav>
                                      </p:tavLst>
                                    </p:anim>
                                    <p:animEffect transition="in" filter="fade">
                                      <p:cBhvr>
                                        <p:cTn id="88" dur="420"/>
                                        <p:tgtEl>
                                          <p:spTgt spid="48"/>
                                        </p:tgtEl>
                                      </p:cBhvr>
                                    </p:animEffect>
                                  </p:childTnLst>
                                </p:cTn>
                              </p:par>
                            </p:childTnLst>
                          </p:cTn>
                        </p:par>
                      </p:childTnLst>
                    </p:cTn>
                  </p:par>
                  <p:par>
                    <p:cTn id="89" fill="hold">
                      <p:stCondLst>
                        <p:cond delay="250"/>
                      </p:stCondLst>
                      <p:childTnLst>
                        <p:par>
                          <p:cTn id="90" fill="hold">
                            <p:stCondLst>
                              <p:cond delay="0"/>
                            </p:stCondLst>
                            <p:childTnLst>
                              <p:par>
                                <p:cTn id="91" presetID="10" presetClass="entr" presetSubtype="0" fill="hold" grpId="0" nodeType="after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fade">
                                      <p:cBhvr>
                                        <p:cTn id="9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2" grpId="0"/>
      <p:bldP spid="13" grpId="0" animBg="1"/>
      <p:bldP spid="14" grpId="0"/>
      <p:bldP spid="15" grpId="0" animBg="1"/>
      <p:bldP spid="18" grpId="0" animBg="1"/>
      <p:bldP spid="21" grpId="0" animBg="1"/>
      <p:bldP spid="24" grpId="0" animBg="1"/>
      <p:bldP spid="27" grpId="0" animBg="1"/>
      <p:bldP spid="30" grpId="0" animBg="1"/>
      <p:bldP spid="40" grpId="0" animBg="1"/>
      <p:bldP spid="42" grpId="0" animBg="1"/>
      <p:bldP spid="44" grpId="0" animBg="1"/>
      <p:bldP spid="46" grpId="0" animBg="1"/>
      <p:bldP spid="48" grpId="0" animBg="1"/>
      <p:bldP spid="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7F8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191969" cy="68580"/>
          </a:xfrm>
          <a:prstGeom prst="rect">
            <a:avLst/>
          </a:prstGeom>
          <a:gradFill rotWithShape="1">
            <a:gsLst>
              <a:gs pos="0">
                <a:srgbClr val="D9A13C"/>
              </a:gs>
              <a:gs pos="100000">
                <a:srgbClr val="1E6B4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ectangle 3"/>
          <p:cNvSpPr/>
          <p:nvPr/>
        </p:nvSpPr>
        <p:spPr>
          <a:xfrm>
            <a:off x="0" y="6354165"/>
            <a:ext cx="12191969" cy="50383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384048" y="6354165"/>
            <a:ext cx="4572000" cy="503834"/>
          </a:xfrm>
          <a:prstGeom prst="rect">
            <a:avLst/>
          </a:prstGeom>
          <a:noFill/>
        </p:spPr>
        <p:txBody>
          <a:bodyPr wrap="square" lIns="0" tIns="0" rIns="0" bIns="0" anchor="ctr">
            <a:spAutoFit/>
          </a:bodyPr>
          <a:lstStyle/>
          <a:p>
            <a:pPr algn="l"/>
            <a:r>
              <a:rPr sz="950" b="1" i="0" u="none" spc="80">
                <a:solidFill>
                  <a:srgbClr val="FFFFFF"/>
                </a:solidFill>
                <a:latin typeface="Arial"/>
              </a:rPr>
              <a:t>VANASPATI  ·  Virtual Herbal Garden</a:t>
            </a:r>
          </a:p>
        </p:txBody>
      </p:sp>
      <p:sp>
        <p:nvSpPr>
          <p:cNvPr id="6" name="TextBox 5"/>
          <p:cNvSpPr txBox="1"/>
          <p:nvPr/>
        </p:nvSpPr>
        <p:spPr>
          <a:xfrm>
            <a:off x="4206240" y="6354165"/>
            <a:ext cx="3749039" cy="503834"/>
          </a:xfrm>
          <a:prstGeom prst="rect">
            <a:avLst/>
          </a:prstGeom>
          <a:noFill/>
        </p:spPr>
        <p:txBody>
          <a:bodyPr wrap="square" lIns="0" tIns="0" rIns="0" bIns="0" anchor="ctr">
            <a:spAutoFit/>
          </a:bodyPr>
          <a:lstStyle/>
          <a:p>
            <a:pPr algn="ctr"/>
            <a:r>
              <a:rPr sz="950" b="0" i="0" u="none">
                <a:solidFill>
                  <a:srgbClr val="FFFFFF"/>
                </a:solidFill>
                <a:latin typeface="Arial"/>
              </a:rPr>
              <a:t>@SIH Idea submission- Template</a:t>
            </a:r>
          </a:p>
        </p:txBody>
      </p:sp>
      <p:sp>
        <p:nvSpPr>
          <p:cNvPr id="7" name="TextBox 6"/>
          <p:cNvSpPr txBox="1"/>
          <p:nvPr/>
        </p:nvSpPr>
        <p:spPr>
          <a:xfrm>
            <a:off x="10424160" y="6354165"/>
            <a:ext cx="1280160" cy="503834"/>
          </a:xfrm>
          <a:prstGeom prst="rect">
            <a:avLst/>
          </a:prstGeom>
          <a:noFill/>
        </p:spPr>
        <p:txBody>
          <a:bodyPr wrap="square" lIns="0" tIns="0" rIns="0" bIns="0" anchor="ctr">
            <a:spAutoFit/>
          </a:bodyPr>
          <a:lstStyle/>
          <a:p>
            <a:pPr algn="r"/>
            <a:r>
              <a:rPr sz="1100" b="1" i="0" u="none">
                <a:solidFill>
                  <a:srgbClr val="FFFFFF"/>
                </a:solidFill>
                <a:latin typeface="Arial"/>
              </a:rPr>
              <a:t>2</a:t>
            </a:r>
          </a:p>
        </p:txBody>
      </p:sp>
      <p:pic>
        <p:nvPicPr>
          <p:cNvPr id="8" name="Picture 7" descr="image2.png"/>
          <p:cNvPicPr>
            <a:picLocks noChangeAspect="1"/>
          </p:cNvPicPr>
          <p:nvPr/>
        </p:nvPicPr>
        <p:blipFill>
          <a:blip r:embed="rId3"/>
          <a:stretch>
            <a:fillRect/>
          </a:stretch>
        </p:blipFill>
        <p:spPr>
          <a:xfrm>
            <a:off x="10113264" y="182880"/>
            <a:ext cx="1572768" cy="799185"/>
          </a:xfrm>
          <a:prstGeom prst="rect">
            <a:avLst/>
          </a:prstGeom>
        </p:spPr>
      </p:pic>
      <p:sp>
        <p:nvSpPr>
          <p:cNvPr id="9" name="TEAM LOGO PLACEHOLDER"/>
          <p:cNvSpPr/>
          <p:nvPr/>
        </p:nvSpPr>
        <p:spPr>
          <a:xfrm>
            <a:off x="475488" y="201168"/>
            <a:ext cx="877824" cy="576072"/>
          </a:xfrm>
          <a:prstGeom prst="ellipse">
            <a:avLst/>
          </a:prstGeom>
          <a:no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u="none" spc="60">
                <a:solidFill>
                  <a:srgbClr val="7FB06D"/>
                </a:solidFill>
                <a:latin typeface="Arial"/>
              </a:rPr>
              <a:t>TEAM
LOGO</a:t>
            </a:r>
          </a:p>
        </p:txBody>
      </p:sp>
      <p:pic>
        <p:nvPicPr>
          <p:cNvPr id="10" name="Picture 9" descr="leaf_tulsi_ghost.png"/>
          <p:cNvPicPr>
            <a:picLocks noChangeAspect="1"/>
          </p:cNvPicPr>
          <p:nvPr/>
        </p:nvPicPr>
        <p:blipFill>
          <a:blip r:embed="rId4"/>
          <a:stretch>
            <a:fillRect/>
          </a:stretch>
        </p:blipFill>
        <p:spPr>
          <a:xfrm rot="20820000">
            <a:off x="9415928" y="91440"/>
            <a:ext cx="514456" cy="841248"/>
          </a:xfrm>
          <a:prstGeom prst="rect">
            <a:avLst/>
          </a:prstGeom>
        </p:spPr>
      </p:pic>
      <p:sp>
        <p:nvSpPr>
          <p:cNvPr id="11" name="TextBox 10"/>
          <p:cNvSpPr txBox="1"/>
          <p:nvPr/>
        </p:nvSpPr>
        <p:spPr>
          <a:xfrm>
            <a:off x="1481328" y="173736"/>
            <a:ext cx="7863840" cy="475488"/>
          </a:xfrm>
          <a:prstGeom prst="rect">
            <a:avLst/>
          </a:prstGeom>
          <a:noFill/>
        </p:spPr>
        <p:txBody>
          <a:bodyPr wrap="square" lIns="0" tIns="0" rIns="0" bIns="0" anchor="t">
            <a:spAutoFit/>
          </a:bodyPr>
          <a:lstStyle/>
          <a:p>
            <a:pPr algn="l"/>
            <a:r>
              <a:rPr sz="2100" b="1" i="0" u="none" spc="60">
                <a:solidFill>
                  <a:srgbClr val="12261C"/>
                </a:solidFill>
                <a:latin typeface="Times New Roman"/>
              </a:rPr>
              <a:t>VANASPATI — A GARDEN THAT GROWS ITSELF</a:t>
            </a:r>
          </a:p>
        </p:txBody>
      </p:sp>
      <p:sp>
        <p:nvSpPr>
          <p:cNvPr id="12" name="TextBox 11"/>
          <p:cNvSpPr txBox="1"/>
          <p:nvPr/>
        </p:nvSpPr>
        <p:spPr>
          <a:xfrm>
            <a:off x="1481328" y="658368"/>
            <a:ext cx="7498079" cy="237744"/>
          </a:xfrm>
          <a:prstGeom prst="rect">
            <a:avLst/>
          </a:prstGeom>
          <a:noFill/>
        </p:spPr>
        <p:txBody>
          <a:bodyPr wrap="square" lIns="0" tIns="0" rIns="0" bIns="0" anchor="t">
            <a:spAutoFit/>
          </a:bodyPr>
          <a:lstStyle/>
          <a:p>
            <a:pPr algn="l"/>
            <a:r>
              <a:rPr sz="1000" b="0" i="1" u="none">
                <a:solidFill>
                  <a:srgbClr val="5B6B60"/>
                </a:solidFill>
                <a:latin typeface="Arial"/>
              </a:rPr>
              <a:t>Idea title</a:t>
            </a:r>
          </a:p>
        </p:txBody>
      </p:sp>
      <p:sp>
        <p:nvSpPr>
          <p:cNvPr id="13" name="Rectangle 12"/>
          <p:cNvSpPr/>
          <p:nvPr/>
        </p:nvSpPr>
        <p:spPr>
          <a:xfrm>
            <a:off x="1481328" y="918971"/>
            <a:ext cx="10232136" cy="10972"/>
          </a:xfrm>
          <a:prstGeom prst="rect">
            <a:avLst/>
          </a:prstGeom>
          <a:solidFill>
            <a:srgbClr val="DDE3D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1481328" y="914400"/>
            <a:ext cx="1417320" cy="29260"/>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75488" y="1060704"/>
            <a:ext cx="6766560" cy="219456"/>
          </a:xfrm>
          <a:prstGeom prst="rect">
            <a:avLst/>
          </a:prstGeom>
          <a:noFill/>
        </p:spPr>
        <p:txBody>
          <a:bodyPr wrap="square" lIns="0" tIns="0" rIns="0" bIns="0" anchor="t">
            <a:spAutoFit/>
          </a:bodyPr>
          <a:lstStyle/>
          <a:p>
            <a:pPr algn="l"/>
            <a:r>
              <a:rPr sz="1000" b="1" i="0" u="sng">
                <a:solidFill>
                  <a:srgbClr val="1F497D"/>
                </a:solidFill>
                <a:latin typeface="Arial"/>
              </a:rPr>
              <a:t>Proposed Solution (Describe your Idea/Solution/Prototype)</a:t>
            </a:r>
          </a:p>
        </p:txBody>
      </p:sp>
      <p:sp>
        <p:nvSpPr>
          <p:cNvPr id="16" name="Rounded Rectangle 15"/>
          <p:cNvSpPr/>
          <p:nvPr/>
        </p:nvSpPr>
        <p:spPr>
          <a:xfrm>
            <a:off x="475488" y="1335024"/>
            <a:ext cx="6720840" cy="731520"/>
          </a:xfrm>
          <a:prstGeom prst="roundRect">
            <a:avLst>
              <a:gd name="adj" fmla="val 12000"/>
            </a:avLst>
          </a:prstGeom>
          <a:solidFill>
            <a:srgbClr val="E8F1E6"/>
          </a:solidFill>
          <a:ln w="9525">
            <a:solidFill>
              <a:srgbClr val="C4DD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475488" y="1426464"/>
            <a:ext cx="50292" cy="548640"/>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694944" y="1335024"/>
            <a:ext cx="6355080" cy="731520"/>
          </a:xfrm>
          <a:prstGeom prst="rect">
            <a:avLst/>
          </a:prstGeom>
          <a:noFill/>
        </p:spPr>
        <p:txBody>
          <a:bodyPr wrap="square" lIns="0" tIns="0" rIns="0" bIns="0" anchor="ctr">
            <a:spAutoFit/>
          </a:bodyPr>
          <a:lstStyle/>
          <a:p>
            <a:pPr algn="l">
              <a:lnSpc>
                <a:spcPct val="106000"/>
              </a:lnSpc>
            </a:pPr>
            <a:r>
              <a:rPr sz="1400" b="1" i="0" u="none">
                <a:solidFill>
                  <a:srgbClr val="1E6B45"/>
                </a:solidFill>
                <a:latin typeface="Arial"/>
              </a:rPr>
              <a:t>Every plant is grown at run time from its botanical description.</a:t>
            </a:r>
          </a:p>
          <a:p>
            <a:pPr algn="l">
              <a:spcBef>
                <a:spcPts val="300"/>
              </a:spcBef>
            </a:pPr>
            <a:r>
              <a:rPr sz="950" b="0" i="0" u="none">
                <a:solidFill>
                  <a:srgbClr val="5B6B60"/>
                </a:solidFill>
                <a:latin typeface="Arial"/>
              </a:rPr>
              <a:t>Thirty lines of botany become a plant — morphology, phyllotaxy, flowers and all.</a:t>
            </a:r>
          </a:p>
        </p:txBody>
      </p:sp>
      <p:sp>
        <p:nvSpPr>
          <p:cNvPr id="19" name="Rounded Rectangle 18"/>
          <p:cNvSpPr/>
          <p:nvPr/>
        </p:nvSpPr>
        <p:spPr>
          <a:xfrm>
            <a:off x="475488" y="2176272"/>
            <a:ext cx="6720840" cy="1243584"/>
          </a:xfrm>
          <a:prstGeom prst="roundRect">
            <a:avLst>
              <a:gd name="adj" fmla="val 7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ectangle 19"/>
          <p:cNvSpPr/>
          <p:nvPr/>
        </p:nvSpPr>
        <p:spPr>
          <a:xfrm>
            <a:off x="475488" y="2267712"/>
            <a:ext cx="50292" cy="1060704"/>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713232" y="2322576"/>
            <a:ext cx="6355080" cy="969264"/>
          </a:xfrm>
          <a:prstGeom prst="rect">
            <a:avLst/>
          </a:prstGeom>
          <a:noFill/>
        </p:spPr>
        <p:txBody>
          <a:bodyPr wrap="square" lIns="0" tIns="0" rIns="0" bIns="0" anchor="t">
            <a:spAutoFit/>
          </a:bodyPr>
          <a:lstStyle/>
          <a:p>
            <a:pPr algn="l"/>
            <a:r>
              <a:rPr sz="900" b="1" i="0" u="sng">
                <a:solidFill>
                  <a:srgbClr val="1F497D"/>
                </a:solidFill>
                <a:latin typeface="Arial"/>
              </a:rPr>
              <a:t>Detailed explanation of the proposed solution</a:t>
            </a:r>
          </a:p>
          <a:p>
            <a:pPr marL="141732" indent="-141732" algn="l">
              <a:lnSpc>
                <a:spcPct val="95000"/>
              </a:lnSpc>
              <a:spcBef>
                <a:spcPts val="500"/>
              </a:spcBef>
            </a:pPr>
            <a:r>
              <a:rPr sz="1000" b="1" i="0" u="none">
                <a:solidFill>
                  <a:srgbClr val="4F9D5C"/>
                </a:solidFill>
                <a:latin typeface="Arial"/>
              </a:rPr>
              <a:t>▪  </a:t>
            </a:r>
            <a:r>
              <a:rPr sz="1000" b="1" i="0" u="none">
                <a:solidFill>
                  <a:srgbClr val="12261C"/>
                </a:solidFill>
                <a:latin typeface="Arial"/>
              </a:rPr>
              <a:t>25 AYUSH species</a:t>
            </a:r>
            <a:r>
              <a:rPr sz="1000" b="0" i="0" u="none">
                <a:solidFill>
                  <a:srgbClr val="37463D"/>
                </a:solidFill>
                <a:latin typeface="Arial"/>
              </a:rPr>
              <a:t> in 6 themed beds, with 6 guided tours and 4 botanical plates each</a:t>
            </a:r>
          </a:p>
          <a:p>
            <a:pPr marL="141732" indent="-141732" algn="l">
              <a:lnSpc>
                <a:spcPct val="95000"/>
              </a:lnSpc>
              <a:spcBef>
                <a:spcPts val="500"/>
              </a:spcBef>
            </a:pPr>
            <a:r>
              <a:rPr sz="1000" b="1" i="0" u="none">
                <a:solidFill>
                  <a:srgbClr val="4F9D5C"/>
                </a:solidFill>
                <a:latin typeface="Arial"/>
              </a:rPr>
              <a:t>▪  </a:t>
            </a:r>
            <a:r>
              <a:rPr sz="1000" b="1" i="0" u="none">
                <a:solidFill>
                  <a:srgbClr val="12261C"/>
                </a:solidFill>
                <a:latin typeface="Arial"/>
              </a:rPr>
              <a:t>One PlantModelSpec</a:t>
            </a:r>
            <a:r>
              <a:rPr sz="1000" b="0" i="0" u="none">
                <a:solidFill>
                  <a:srgbClr val="37463D"/>
                </a:solidFill>
                <a:latin typeface="Arial"/>
              </a:rPr>
              <a:t> per species drives the 3D model, the 2D plate and the search index</a:t>
            </a:r>
          </a:p>
          <a:p>
            <a:pPr marL="141732" indent="-141732" algn="l">
              <a:lnSpc>
                <a:spcPct val="95000"/>
              </a:lnSpc>
              <a:spcBef>
                <a:spcPts val="500"/>
              </a:spcBef>
            </a:pPr>
            <a:r>
              <a:rPr sz="1000" b="1" i="0" u="none">
                <a:solidFill>
                  <a:srgbClr val="4F9D5C"/>
                </a:solidFill>
                <a:latin typeface="Arial"/>
              </a:rPr>
              <a:t>▪  </a:t>
            </a:r>
            <a:r>
              <a:rPr sz="1000" b="0" i="0" u="none">
                <a:solidFill>
                  <a:srgbClr val="37463D"/>
                </a:solidFill>
                <a:latin typeface="Arial"/>
              </a:rPr>
              <a:t>Compendium per plant: rasa, guna, virya, vipaka, parts used, preparations, cultivation, cautions</a:t>
            </a:r>
          </a:p>
        </p:txBody>
      </p:sp>
      <p:sp>
        <p:nvSpPr>
          <p:cNvPr id="22" name="Rounded Rectangle 21"/>
          <p:cNvSpPr/>
          <p:nvPr/>
        </p:nvSpPr>
        <p:spPr>
          <a:xfrm>
            <a:off x="475488" y="3529584"/>
            <a:ext cx="6720840" cy="1243584"/>
          </a:xfrm>
          <a:prstGeom prst="roundRect">
            <a:avLst>
              <a:gd name="adj" fmla="val 7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75488" y="3621024"/>
            <a:ext cx="50292" cy="1060704"/>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713232" y="3675887"/>
            <a:ext cx="6355080" cy="969264"/>
          </a:xfrm>
          <a:prstGeom prst="rect">
            <a:avLst/>
          </a:prstGeom>
          <a:noFill/>
        </p:spPr>
        <p:txBody>
          <a:bodyPr wrap="square" lIns="0" tIns="0" rIns="0" bIns="0" anchor="t">
            <a:spAutoFit/>
          </a:bodyPr>
          <a:lstStyle/>
          <a:p>
            <a:pPr algn="l"/>
            <a:r>
              <a:rPr sz="900" b="1" i="0" u="sng">
                <a:solidFill>
                  <a:srgbClr val="1F497D"/>
                </a:solidFill>
                <a:latin typeface="Arial"/>
              </a:rPr>
              <a:t>How it addresses the problem</a:t>
            </a:r>
          </a:p>
          <a:p>
            <a:pPr marL="141732" indent="-141732" algn="l">
              <a:lnSpc>
                <a:spcPct val="95000"/>
              </a:lnSpc>
              <a:spcBef>
                <a:spcPts val="500"/>
              </a:spcBef>
            </a:pPr>
            <a:r>
              <a:rPr sz="1000" b="1" i="0" u="none">
                <a:solidFill>
                  <a:srgbClr val="4AA3A8"/>
                </a:solidFill>
                <a:latin typeface="Arial"/>
              </a:rPr>
              <a:t>▪  </a:t>
            </a:r>
            <a:r>
              <a:rPr sz="1000" b="0" i="0" u="none">
                <a:solidFill>
                  <a:srgbClr val="37463D"/>
                </a:solidFill>
                <a:latin typeface="Arial"/>
              </a:rPr>
              <a:t>Walk the garden, orbit any specimen, tap a hotspot to see where the medicine sits</a:t>
            </a:r>
          </a:p>
          <a:p>
            <a:pPr marL="141732" indent="-141732" algn="l">
              <a:lnSpc>
                <a:spcPct val="95000"/>
              </a:lnSpc>
              <a:spcBef>
                <a:spcPts val="500"/>
              </a:spcBef>
            </a:pPr>
            <a:r>
              <a:rPr sz="1000" b="1" i="0" u="none">
                <a:solidFill>
                  <a:srgbClr val="4AA3A8"/>
                </a:solidFill>
                <a:latin typeface="Arial"/>
              </a:rPr>
              <a:t>▪  </a:t>
            </a:r>
            <a:r>
              <a:rPr sz="1000" b="0" i="0" u="none">
                <a:solidFill>
                  <a:srgbClr val="37463D"/>
                </a:solidFill>
                <a:latin typeface="Arial"/>
              </a:rPr>
              <a:t>Weighted search over names, symptoms and Sanskrit synonyms, with six filter facets</a:t>
            </a:r>
          </a:p>
          <a:p>
            <a:pPr marL="141732" indent="-141732" algn="l">
              <a:lnSpc>
                <a:spcPct val="95000"/>
              </a:lnSpc>
              <a:spcBef>
                <a:spcPts val="500"/>
              </a:spcBef>
            </a:pPr>
            <a:r>
              <a:rPr sz="1000" b="1" i="0" u="none">
                <a:solidFill>
                  <a:srgbClr val="4AA3A8"/>
                </a:solidFill>
                <a:latin typeface="Arial"/>
              </a:rPr>
              <a:t>▪  </a:t>
            </a:r>
            <a:r>
              <a:rPr sz="1000" b="0" i="0" u="none">
                <a:solidFill>
                  <a:srgbClr val="37463D"/>
                </a:solidFill>
                <a:latin typeface="Arial"/>
              </a:rPr>
              <a:t>Bookmarks, autosaving notes, narration, share and a study sheet — offline after first load</a:t>
            </a:r>
          </a:p>
        </p:txBody>
      </p:sp>
      <p:sp>
        <p:nvSpPr>
          <p:cNvPr id="25" name="Rounded Rectangle 24"/>
          <p:cNvSpPr/>
          <p:nvPr/>
        </p:nvSpPr>
        <p:spPr>
          <a:xfrm>
            <a:off x="475488" y="4882896"/>
            <a:ext cx="6720840" cy="1243584"/>
          </a:xfrm>
          <a:prstGeom prst="roundRect">
            <a:avLst>
              <a:gd name="adj" fmla="val 7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475488" y="4974336"/>
            <a:ext cx="50292" cy="1060704"/>
          </a:xfrm>
          <a:prstGeom prst="rect">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713232" y="5029200"/>
            <a:ext cx="6355080" cy="969264"/>
          </a:xfrm>
          <a:prstGeom prst="rect">
            <a:avLst/>
          </a:prstGeom>
          <a:noFill/>
        </p:spPr>
        <p:txBody>
          <a:bodyPr wrap="square" lIns="0" tIns="0" rIns="0" bIns="0" anchor="t">
            <a:spAutoFit/>
          </a:bodyPr>
          <a:lstStyle/>
          <a:p>
            <a:pPr algn="l"/>
            <a:r>
              <a:rPr sz="900" b="1" i="0" u="sng">
                <a:solidFill>
                  <a:srgbClr val="1F497D"/>
                </a:solidFill>
                <a:latin typeface="Arial"/>
              </a:rPr>
              <a:t>Innovation and uniqueness of the solution</a:t>
            </a:r>
          </a:p>
          <a:p>
            <a:pPr marL="141732" indent="-141732" algn="l">
              <a:lnSpc>
                <a:spcPct val="95000"/>
              </a:lnSpc>
              <a:spcBef>
                <a:spcPts val="500"/>
              </a:spcBef>
            </a:pPr>
            <a:r>
              <a:rPr sz="1000" b="1" i="0" u="none">
                <a:solidFill>
                  <a:srgbClr val="D9A13C"/>
                </a:solidFill>
                <a:latin typeface="Arial"/>
              </a:rPr>
              <a:t>▪  </a:t>
            </a:r>
            <a:r>
              <a:rPr sz="1000" b="1" i="0" u="none">
                <a:solidFill>
                  <a:srgbClr val="12261C"/>
                </a:solidFill>
                <a:latin typeface="Arial"/>
              </a:rPr>
              <a:t>Botany is the model:</a:t>
            </a:r>
            <a:r>
              <a:rPr sz="1000" b="0" i="0" u="none">
                <a:solidFill>
                  <a:srgbClr val="37463D"/>
                </a:solidFill>
                <a:latin typeface="Arial"/>
              </a:rPr>
              <a:t> a square stem makes a mint, 9–19 leaflets make a neem frond</a:t>
            </a:r>
          </a:p>
          <a:p>
            <a:pPr marL="141732" indent="-141732" algn="l">
              <a:lnSpc>
                <a:spcPct val="95000"/>
              </a:lnSpc>
              <a:spcBef>
                <a:spcPts val="500"/>
              </a:spcBef>
            </a:pPr>
            <a:r>
              <a:rPr sz="1000" b="1" i="0" u="none">
                <a:solidFill>
                  <a:srgbClr val="D9A13C"/>
                </a:solidFill>
                <a:latin typeface="Arial"/>
              </a:rPr>
              <a:t>▪  </a:t>
            </a:r>
            <a:r>
              <a:rPr sz="1000" b="1" i="0" u="none">
                <a:solidFill>
                  <a:srgbClr val="12261C"/>
                </a:solidFill>
                <a:latin typeface="Arial"/>
              </a:rPr>
              <a:t>Seeded growth</a:t>
            </a:r>
            <a:r>
              <a:rPr sz="1000" b="0" i="0" u="none">
                <a:solidFill>
                  <a:srgbClr val="37463D"/>
                </a:solidFill>
                <a:latin typeface="Arial"/>
              </a:rPr>
              <a:t> — the same species grows identically on every device, every time</a:t>
            </a:r>
          </a:p>
          <a:p>
            <a:pPr marL="141732" indent="-141732" algn="l">
              <a:lnSpc>
                <a:spcPct val="95000"/>
              </a:lnSpc>
              <a:spcBef>
                <a:spcPts val="500"/>
              </a:spcBef>
            </a:pPr>
            <a:r>
              <a:rPr sz="1000" b="1" i="0" u="none">
                <a:solidFill>
                  <a:srgbClr val="D9A13C"/>
                </a:solidFill>
                <a:latin typeface="Arial"/>
              </a:rPr>
              <a:t>▪  </a:t>
            </a:r>
            <a:r>
              <a:rPr sz="1000" b="1" i="0" u="none">
                <a:solidFill>
                  <a:srgbClr val="12261C"/>
                </a:solidFill>
                <a:latin typeface="Arial"/>
              </a:rPr>
              <a:t>A new plant costs ~30 lines of data</a:t>
            </a:r>
            <a:r>
              <a:rPr sz="1000" b="0" i="0" u="none">
                <a:solidFill>
                  <a:srgbClr val="37463D"/>
                </a:solidFill>
                <a:latin typeface="Arial"/>
              </a:rPr>
              <a:t>, not a week in Blender</a:t>
            </a:r>
          </a:p>
        </p:txBody>
      </p:sp>
      <p:sp>
        <p:nvSpPr>
          <p:cNvPr id="28" name="IMAGE PLACEHOLDER - IMAGE 2"/>
          <p:cNvSpPr/>
          <p:nvPr/>
        </p:nvSpPr>
        <p:spPr>
          <a:xfrm>
            <a:off x="7360920" y="1060704"/>
            <a:ext cx="4352544" cy="2249424"/>
          </a:xfrm>
          <a:prstGeom prst="roundRect">
            <a:avLst>
              <a:gd name="adj" fmla="val 5000"/>
            </a:avLst>
          </a:prstGeom>
          <a:solidFill>
            <a:srgbClr val="ECF1EA"/>
          </a:solid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7562088" y="1060704"/>
            <a:ext cx="3950207" cy="2249424"/>
          </a:xfrm>
          <a:prstGeom prst="rect">
            <a:avLst/>
          </a:prstGeom>
          <a:noFill/>
        </p:spPr>
        <p:txBody>
          <a:bodyPr wrap="square" lIns="0" tIns="0" rIns="0" bIns="0" anchor="ctr">
            <a:spAutoFit/>
          </a:bodyPr>
          <a:lstStyle/>
          <a:p>
            <a:pPr algn="ctr"/>
            <a:r>
              <a:rPr sz="1050" b="1" i="0" u="none" spc="120">
                <a:solidFill>
                  <a:srgbClr val="1E6B45"/>
                </a:solidFill>
                <a:latin typeface="Arial"/>
              </a:rPr>
              <a:t>IMAGE 2</a:t>
            </a:r>
          </a:p>
          <a:p>
            <a:pPr algn="ctr">
              <a:spcBef>
                <a:spcPts val="400"/>
              </a:spcBef>
            </a:pPr>
            <a:r>
              <a:rPr sz="900" b="0" i="1" u="none">
                <a:solidFill>
                  <a:srgbClr val="5B6B60"/>
                </a:solidFill>
                <a:latin typeface="Arial"/>
              </a:rPr>
              <a:t>Plant viewer with labelled part hotspots</a:t>
            </a:r>
          </a:p>
          <a:p>
            <a:pPr algn="ctr">
              <a:spcBef>
                <a:spcPts val="500"/>
              </a:spcBef>
            </a:pPr>
            <a:r>
              <a:rPr sz="750" b="0" i="0" u="none">
                <a:solidFill>
                  <a:srgbClr val="8A978D"/>
                </a:solidFill>
                <a:latin typeface="Arial"/>
              </a:rPr>
              <a:t>replace with the AI image (prompt 2)</a:t>
            </a:r>
          </a:p>
        </p:txBody>
      </p:sp>
      <p:sp>
        <p:nvSpPr>
          <p:cNvPr id="30" name="Rounded Rectangle 29"/>
          <p:cNvSpPr/>
          <p:nvPr/>
        </p:nvSpPr>
        <p:spPr>
          <a:xfrm>
            <a:off x="7360920" y="3438144"/>
            <a:ext cx="4352544" cy="2688336"/>
          </a:xfrm>
          <a:prstGeom prst="roundRect">
            <a:avLst>
              <a:gd name="adj" fmla="val 5000"/>
            </a:avLst>
          </a:prstGeom>
          <a:solidFill>
            <a:srgbClr val="112A1F"/>
          </a:solidFill>
          <a:ln w="9525">
            <a:solidFill>
              <a:srgbClr val="244535"/>
            </a:solidFill>
          </a:ln>
          <a:effectLst>
            <a:outerShdw blurRad="110000" dist="26000" dir="5400000" rotWithShape="0">
              <a:srgbClr val="1B3A2A">
                <a:alpha val="18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7571231" y="3621024"/>
            <a:ext cx="3931920" cy="274320"/>
          </a:xfrm>
          <a:prstGeom prst="rect">
            <a:avLst/>
          </a:prstGeom>
          <a:noFill/>
        </p:spPr>
        <p:txBody>
          <a:bodyPr wrap="square" lIns="0" tIns="0" rIns="0" bIns="0" anchor="t">
            <a:spAutoFit/>
          </a:bodyPr>
          <a:lstStyle/>
          <a:p>
            <a:pPr algn="l"/>
            <a:r>
              <a:rPr sz="800" b="1" i="0" u="none" spc="160">
                <a:solidFill>
                  <a:srgbClr val="9ED4A8"/>
                </a:solidFill>
                <a:latin typeface="Arial"/>
              </a:rPr>
              <a:t>TULSI, AS THE APP STORES IT</a:t>
            </a:r>
          </a:p>
        </p:txBody>
      </p:sp>
      <p:sp>
        <p:nvSpPr>
          <p:cNvPr id="32" name="TextBox 31"/>
          <p:cNvSpPr txBox="1"/>
          <p:nvPr/>
        </p:nvSpPr>
        <p:spPr>
          <a:xfrm>
            <a:off x="7571231" y="3950208"/>
            <a:ext cx="3968496" cy="1463040"/>
          </a:xfrm>
          <a:prstGeom prst="rect">
            <a:avLst/>
          </a:prstGeom>
          <a:noFill/>
        </p:spPr>
        <p:txBody>
          <a:bodyPr wrap="square" lIns="0" tIns="0" rIns="0" bIns="0" anchor="t">
            <a:spAutoFit/>
          </a:bodyPr>
          <a:lstStyle/>
          <a:p>
            <a:pPr algn="l">
              <a:lnSpc>
                <a:spcPct val="100000"/>
              </a:lnSpc>
            </a:pPr>
            <a:r>
              <a:rPr sz="900" b="0" i="0" u="none">
                <a:solidFill>
                  <a:srgbClr val="D3E6D6"/>
                </a:solidFill>
                <a:latin typeface="Consolas"/>
              </a:rPr>
              <a:t>model: {</a:t>
            </a:r>
          </a:p>
          <a:p>
            <a:pPr algn="l">
              <a:lnSpc>
                <a:spcPct val="100000"/>
              </a:lnSpc>
            </a:pPr>
            <a:r>
              <a:rPr sz="900" b="0" i="0" u="none">
                <a:solidFill>
                  <a:srgbClr val="D3E6D6"/>
                </a:solidFill>
                <a:latin typeface="Consolas"/>
              </a:rPr>
              <a:t>  archetype: 'herb',  height: 0.62,</a:t>
            </a:r>
          </a:p>
          <a:p>
            <a:pPr algn="l">
              <a:lnSpc>
                <a:spcPct val="100000"/>
              </a:lnSpc>
            </a:pPr>
            <a:r>
              <a:rPr sz="900" b="0" i="0" u="none">
                <a:solidFill>
                  <a:srgbClr val="D3E6D6"/>
                </a:solidFill>
                <a:latin typeface="Consolas"/>
              </a:rPr>
              <a:t>  stem:   { square: true },</a:t>
            </a:r>
            <a:r>
              <a:rPr sz="900" b="0" i="1" u="none">
                <a:solidFill>
                  <a:srgbClr val="7E9C86"/>
                </a:solidFill>
                <a:latin typeface="Consolas"/>
              </a:rPr>
              <a:t>   // Lamiaceae</a:t>
            </a:r>
          </a:p>
          <a:p>
            <a:pPr algn="l">
              <a:lnSpc>
                <a:spcPct val="100000"/>
              </a:lnSpc>
            </a:pPr>
            <a:r>
              <a:rPr sz="900" b="0" i="0" u="none">
                <a:solidFill>
                  <a:srgbClr val="D3E6D6"/>
                </a:solidFill>
                <a:latin typeface="Consolas"/>
              </a:rPr>
              <a:t>  leaf:   { shape: 'ovate',</a:t>
            </a:r>
          </a:p>
          <a:p>
            <a:pPr algn="l">
              <a:lnSpc>
                <a:spcPct val="100000"/>
              </a:lnSpc>
            </a:pPr>
            <a:r>
              <a:rPr sz="900" b="0" i="0" u="none">
                <a:solidFill>
                  <a:srgbClr val="D3E6D6"/>
                </a:solidFill>
                <a:latin typeface="Consolas"/>
              </a:rPr>
              <a:t>            arrangement: 'opposite',</a:t>
            </a:r>
          </a:p>
          <a:p>
            <a:pPr algn="l">
              <a:lnSpc>
                <a:spcPct val="100000"/>
              </a:lnSpc>
            </a:pPr>
            <a:r>
              <a:rPr sz="900" b="0" i="0" u="none">
                <a:solidFill>
                  <a:srgbClr val="D3E6D6"/>
                </a:solidFill>
                <a:latin typeface="Consolas"/>
              </a:rPr>
              <a:t>            serration: 0.55 },</a:t>
            </a:r>
          </a:p>
          <a:p>
            <a:pPr algn="l">
              <a:lnSpc>
                <a:spcPct val="100000"/>
              </a:lnSpc>
            </a:pPr>
            <a:r>
              <a:rPr sz="900" b="0" i="0" u="none">
                <a:solidFill>
                  <a:srgbClr val="D3E6D6"/>
                </a:solidFill>
                <a:latin typeface="Consolas"/>
              </a:rPr>
              <a:t>  flower: { form: 'spike', petals: 5 },</a:t>
            </a:r>
          </a:p>
          <a:p>
            <a:pPr algn="l">
              <a:lnSpc>
                <a:spcPct val="100000"/>
              </a:lnSpc>
            </a:pPr>
            <a:r>
              <a:rPr sz="900" b="0" i="0" u="none">
                <a:solidFill>
                  <a:srgbClr val="D3E6D6"/>
                </a:solidFill>
                <a:latin typeface="Consolas"/>
              </a:rPr>
              <a:t>}</a:t>
            </a:r>
          </a:p>
        </p:txBody>
      </p:sp>
      <p:sp>
        <p:nvSpPr>
          <p:cNvPr id="33" name="TextBox 32"/>
          <p:cNvSpPr txBox="1"/>
          <p:nvPr/>
        </p:nvSpPr>
        <p:spPr>
          <a:xfrm>
            <a:off x="7571231" y="5449824"/>
            <a:ext cx="3931920" cy="548640"/>
          </a:xfrm>
          <a:prstGeom prst="rect">
            <a:avLst/>
          </a:prstGeom>
          <a:noFill/>
        </p:spPr>
        <p:txBody>
          <a:bodyPr wrap="square" lIns="0" tIns="0" rIns="0" bIns="0" anchor="t">
            <a:spAutoFit/>
          </a:bodyPr>
          <a:lstStyle/>
          <a:p>
            <a:pPr algn="l">
              <a:lnSpc>
                <a:spcPct val="105000"/>
              </a:lnSpc>
            </a:pPr>
            <a:r>
              <a:rPr sz="850" b="0" i="1" u="none">
                <a:solidFill>
                  <a:srgbClr val="9FB7A6"/>
                </a:solidFill>
                <a:latin typeface="Arial"/>
              </a:rPr>
              <a:t>The garden, the specimen plate and the search index all read this one object. Nothing else is stored.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6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20" fill="hold"/>
                                        <p:tgtEl>
                                          <p:spTgt spid="16"/>
                                        </p:tgtEl>
                                        <p:attrNameLst>
                                          <p:attrName>ppt_y</p:attrName>
                                        </p:attrNameLst>
                                      </p:cBhvr>
                                      <p:tavLst>
                                        <p:tav tm="0">
                                          <p:val>
                                            <p:strVal val="#ppt_y+.035"/>
                                          </p:val>
                                        </p:tav>
                                        <p:tav tm="100000">
                                          <p:val>
                                            <p:strVal val="#ppt_y"/>
                                          </p:val>
                                        </p:tav>
                                      </p:tavLst>
                                    </p:anim>
                                    <p:animEffect transition="in" filter="fade">
                                      <p:cBhvr>
                                        <p:cTn id="8" dur="520"/>
                                        <p:tgtEl>
                                          <p:spTgt spid="16"/>
                                        </p:tgtEl>
                                      </p:cBhvr>
                                    </p:animEffect>
                                  </p:childTnLst>
                                </p:cTn>
                              </p:par>
                            </p:childTnLst>
                          </p:cTn>
                        </p:par>
                      </p:childTnLst>
                    </p:cTn>
                  </p:par>
                  <p:par>
                    <p:cTn id="9" fill="hold">
                      <p:stCondLst>
                        <p:cond delay="12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ppt_y</p:attrName>
                                        </p:attrNameLst>
                                      </p:cBhvr>
                                      <p:tavLst>
                                        <p:tav tm="0">
                                          <p:val>
                                            <p:strVal val="#ppt_y+.035"/>
                                          </p:val>
                                        </p:tav>
                                        <p:tav tm="100000">
                                          <p:val>
                                            <p:strVal val="#ppt_y"/>
                                          </p:val>
                                        </p:tav>
                                      </p:tavLst>
                                    </p:anim>
                                    <p:animEffect transition="in" filter="fade">
                                      <p:cBhvr>
                                        <p:cTn id="14" dur="500"/>
                                        <p:tgtEl>
                                          <p:spTgt spid="19"/>
                                        </p:tgtEl>
                                      </p:cBhvr>
                                    </p:animEffect>
                                  </p:childTnLst>
                                </p:cTn>
                              </p:par>
                            </p:childTnLst>
                          </p:cTn>
                        </p:par>
                      </p:childTnLst>
                    </p:cTn>
                  </p:par>
                  <p:par>
                    <p:cTn id="15" fill="hold">
                      <p:stCondLst>
                        <p:cond delay="260"/>
                      </p:stCondLst>
                      <p:childTnLst>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ppt_y</p:attrName>
                                        </p:attrNameLst>
                                      </p:cBhvr>
                                      <p:tavLst>
                                        <p:tav tm="0">
                                          <p:val>
                                            <p:strVal val="#ppt_y+.035"/>
                                          </p:val>
                                        </p:tav>
                                        <p:tav tm="100000">
                                          <p:val>
                                            <p:strVal val="#ppt_y"/>
                                          </p:val>
                                        </p:tav>
                                      </p:tavLst>
                                    </p:anim>
                                    <p:animEffect transition="in" filter="fade">
                                      <p:cBhvr>
                                        <p:cTn id="20" dur="500"/>
                                        <p:tgtEl>
                                          <p:spTgt spid="22"/>
                                        </p:tgtEl>
                                      </p:cBhvr>
                                    </p:animEffect>
                                  </p:childTnLst>
                                </p:cTn>
                              </p:par>
                            </p:childTnLst>
                          </p:cTn>
                        </p:par>
                      </p:childTnLst>
                    </p:cTn>
                  </p:par>
                  <p:par>
                    <p:cTn id="21" fill="hold">
                      <p:stCondLst>
                        <p:cond delay="400"/>
                      </p:stCondLst>
                      <p:childTnLst>
                        <p:par>
                          <p:cTn id="22" fill="hold">
                            <p:stCondLst>
                              <p:cond delay="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ppt_y</p:attrName>
                                        </p:attrNameLst>
                                      </p:cBhvr>
                                      <p:tavLst>
                                        <p:tav tm="0">
                                          <p:val>
                                            <p:strVal val="#ppt_y+.035"/>
                                          </p:val>
                                        </p:tav>
                                        <p:tav tm="100000">
                                          <p:val>
                                            <p:strVal val="#ppt_y"/>
                                          </p:val>
                                        </p:tav>
                                      </p:tavLst>
                                    </p:anim>
                                    <p:animEffect transition="in" filter="fade">
                                      <p:cBhvr>
                                        <p:cTn id="26" dur="500"/>
                                        <p:tgtEl>
                                          <p:spTgt spid="25"/>
                                        </p:tgtEl>
                                      </p:cBhvr>
                                    </p:animEffect>
                                  </p:childTnLst>
                                </p:cTn>
                              </p:par>
                            </p:childTnLst>
                          </p:cTn>
                        </p:par>
                      </p:childTnLst>
                    </p:cTn>
                  </p:par>
                  <p:par>
                    <p:cTn id="27" fill="hold">
                      <p:stCondLst>
                        <p:cond delay="160"/>
                      </p:stCondLst>
                      <p:childTnLst>
                        <p:par>
                          <p:cTn id="28" fill="hold">
                            <p:stCondLst>
                              <p:cond delay="0"/>
                            </p:stCondLst>
                            <p:childTnLst>
                              <p:par>
                                <p:cTn id="29" presetID="23" presetClass="entr" presetSubtype="16"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620"/>
                                        <p:tgtEl>
                                          <p:spTgt spid="28"/>
                                        </p:tgtEl>
                                      </p:cBhvr>
                                    </p:animEffect>
                                  </p:childTnLst>
                                </p:cTn>
                              </p:par>
                            </p:childTnLst>
                          </p:cTn>
                        </p:par>
                      </p:childTnLst>
                    </p:cTn>
                  </p:par>
                  <p:par>
                    <p:cTn id="32" fill="hold">
                      <p:stCondLst>
                        <p:cond delay="200"/>
                      </p:stCondLst>
                      <p:childTnLst>
                        <p:par>
                          <p:cTn id="33" fill="hold">
                            <p:stCondLst>
                              <p:cond delay="0"/>
                            </p:stCondLst>
                            <p:childTnLst>
                              <p:par>
                                <p:cTn id="34" presetID="10" presetClass="entr" presetSubtype="0" fill="hold" grpId="0" nodeType="after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600" fill="hold"/>
                                        <p:tgtEl>
                                          <p:spTgt spid="30"/>
                                        </p:tgtEl>
                                        <p:attrNameLst>
                                          <p:attrName>ppt_y</p:attrName>
                                        </p:attrNameLst>
                                      </p:cBhvr>
                                      <p:tavLst>
                                        <p:tav tm="0">
                                          <p:val>
                                            <p:strVal val="#ppt_y+.035"/>
                                          </p:val>
                                        </p:tav>
                                        <p:tav tm="100000">
                                          <p:val>
                                            <p:strVal val="#ppt_y"/>
                                          </p:val>
                                        </p:tav>
                                      </p:tavLst>
                                    </p:anim>
                                    <p:animEffect transition="in" filter="fade">
                                      <p:cBhvr>
                                        <p:cTn id="37"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28" grpId="0" animBg="1"/>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7F8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191969" cy="68580"/>
          </a:xfrm>
          <a:prstGeom prst="rect">
            <a:avLst/>
          </a:prstGeom>
          <a:gradFill rotWithShape="1">
            <a:gsLst>
              <a:gs pos="0">
                <a:srgbClr val="D9A13C"/>
              </a:gs>
              <a:gs pos="100000">
                <a:srgbClr val="1E6B4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ectangle 3"/>
          <p:cNvSpPr/>
          <p:nvPr/>
        </p:nvSpPr>
        <p:spPr>
          <a:xfrm>
            <a:off x="0" y="6354165"/>
            <a:ext cx="12191969" cy="50383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384048" y="6354165"/>
            <a:ext cx="4572000" cy="503834"/>
          </a:xfrm>
          <a:prstGeom prst="rect">
            <a:avLst/>
          </a:prstGeom>
          <a:noFill/>
        </p:spPr>
        <p:txBody>
          <a:bodyPr wrap="square" lIns="0" tIns="0" rIns="0" bIns="0" anchor="ctr">
            <a:spAutoFit/>
          </a:bodyPr>
          <a:lstStyle/>
          <a:p>
            <a:pPr algn="l"/>
            <a:r>
              <a:rPr sz="950" b="1" i="0" u="none" spc="80">
                <a:solidFill>
                  <a:srgbClr val="FFFFFF"/>
                </a:solidFill>
                <a:latin typeface="Arial"/>
              </a:rPr>
              <a:t>VANASPATI  ·  Virtual Herbal Garden</a:t>
            </a:r>
          </a:p>
        </p:txBody>
      </p:sp>
      <p:sp>
        <p:nvSpPr>
          <p:cNvPr id="6" name="TextBox 5"/>
          <p:cNvSpPr txBox="1"/>
          <p:nvPr/>
        </p:nvSpPr>
        <p:spPr>
          <a:xfrm>
            <a:off x="4206240" y="6354165"/>
            <a:ext cx="3749039" cy="503834"/>
          </a:xfrm>
          <a:prstGeom prst="rect">
            <a:avLst/>
          </a:prstGeom>
          <a:noFill/>
        </p:spPr>
        <p:txBody>
          <a:bodyPr wrap="square" lIns="0" tIns="0" rIns="0" bIns="0" anchor="ctr">
            <a:spAutoFit/>
          </a:bodyPr>
          <a:lstStyle/>
          <a:p>
            <a:pPr algn="ctr"/>
            <a:r>
              <a:rPr sz="950" b="0" i="0" u="none">
                <a:solidFill>
                  <a:srgbClr val="FFFFFF"/>
                </a:solidFill>
                <a:latin typeface="Arial"/>
              </a:rPr>
              <a:t>@SIH Idea submission- Template</a:t>
            </a:r>
          </a:p>
        </p:txBody>
      </p:sp>
      <p:sp>
        <p:nvSpPr>
          <p:cNvPr id="7" name="TextBox 6"/>
          <p:cNvSpPr txBox="1"/>
          <p:nvPr/>
        </p:nvSpPr>
        <p:spPr>
          <a:xfrm>
            <a:off x="10424160" y="6354165"/>
            <a:ext cx="1280160" cy="503834"/>
          </a:xfrm>
          <a:prstGeom prst="rect">
            <a:avLst/>
          </a:prstGeom>
          <a:noFill/>
        </p:spPr>
        <p:txBody>
          <a:bodyPr wrap="square" lIns="0" tIns="0" rIns="0" bIns="0" anchor="ctr">
            <a:spAutoFit/>
          </a:bodyPr>
          <a:lstStyle/>
          <a:p>
            <a:pPr algn="r"/>
            <a:r>
              <a:rPr sz="1100" b="1" i="0" u="none">
                <a:solidFill>
                  <a:srgbClr val="FFFFFF"/>
                </a:solidFill>
                <a:latin typeface="Arial"/>
              </a:rPr>
              <a:t>3</a:t>
            </a:r>
          </a:p>
        </p:txBody>
      </p:sp>
      <p:pic>
        <p:nvPicPr>
          <p:cNvPr id="8" name="Picture 7" descr="image2.png"/>
          <p:cNvPicPr>
            <a:picLocks noChangeAspect="1"/>
          </p:cNvPicPr>
          <p:nvPr/>
        </p:nvPicPr>
        <p:blipFill>
          <a:blip r:embed="rId3"/>
          <a:stretch>
            <a:fillRect/>
          </a:stretch>
        </p:blipFill>
        <p:spPr>
          <a:xfrm>
            <a:off x="10113264" y="182880"/>
            <a:ext cx="1572768" cy="799185"/>
          </a:xfrm>
          <a:prstGeom prst="rect">
            <a:avLst/>
          </a:prstGeom>
        </p:spPr>
      </p:pic>
      <p:sp>
        <p:nvSpPr>
          <p:cNvPr id="9" name="TEAM LOGO PLACEHOLDER"/>
          <p:cNvSpPr/>
          <p:nvPr/>
        </p:nvSpPr>
        <p:spPr>
          <a:xfrm>
            <a:off x="475488" y="201168"/>
            <a:ext cx="877824" cy="576072"/>
          </a:xfrm>
          <a:prstGeom prst="ellipse">
            <a:avLst/>
          </a:prstGeom>
          <a:no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u="none" spc="60">
                <a:solidFill>
                  <a:srgbClr val="7FB06D"/>
                </a:solidFill>
                <a:latin typeface="Arial"/>
              </a:rPr>
              <a:t>TEAM
LOGO</a:t>
            </a:r>
          </a:p>
        </p:txBody>
      </p:sp>
      <p:pic>
        <p:nvPicPr>
          <p:cNvPr id="10" name="Picture 9" descr="leaf_neem_ghost.png"/>
          <p:cNvPicPr>
            <a:picLocks noChangeAspect="1"/>
          </p:cNvPicPr>
          <p:nvPr/>
        </p:nvPicPr>
        <p:blipFill>
          <a:blip r:embed="rId4"/>
          <a:stretch>
            <a:fillRect/>
          </a:stretch>
        </p:blipFill>
        <p:spPr>
          <a:xfrm rot="20820000">
            <a:off x="9568000" y="91440"/>
            <a:ext cx="362384" cy="841248"/>
          </a:xfrm>
          <a:prstGeom prst="rect">
            <a:avLst/>
          </a:prstGeom>
        </p:spPr>
      </p:pic>
      <p:sp>
        <p:nvSpPr>
          <p:cNvPr id="11" name="TextBox 10"/>
          <p:cNvSpPr txBox="1"/>
          <p:nvPr/>
        </p:nvSpPr>
        <p:spPr>
          <a:xfrm>
            <a:off x="1481328" y="173736"/>
            <a:ext cx="7863840" cy="475488"/>
          </a:xfrm>
          <a:prstGeom prst="rect">
            <a:avLst/>
          </a:prstGeom>
          <a:noFill/>
        </p:spPr>
        <p:txBody>
          <a:bodyPr wrap="square" lIns="0" tIns="0" rIns="0" bIns="0" anchor="t">
            <a:spAutoFit/>
          </a:bodyPr>
          <a:lstStyle/>
          <a:p>
            <a:pPr algn="l"/>
            <a:r>
              <a:rPr sz="2700" b="1" i="0" u="none" spc="60">
                <a:solidFill>
                  <a:srgbClr val="12261C"/>
                </a:solidFill>
                <a:latin typeface="Times New Roman"/>
              </a:rPr>
              <a:t>TECHNICAL APPROACH</a:t>
            </a:r>
          </a:p>
        </p:txBody>
      </p:sp>
      <p:sp>
        <p:nvSpPr>
          <p:cNvPr id="12" name="TextBox 11"/>
          <p:cNvSpPr txBox="1"/>
          <p:nvPr/>
        </p:nvSpPr>
        <p:spPr>
          <a:xfrm>
            <a:off x="1481328" y="658368"/>
            <a:ext cx="7498079" cy="237744"/>
          </a:xfrm>
          <a:prstGeom prst="rect">
            <a:avLst/>
          </a:prstGeom>
          <a:noFill/>
        </p:spPr>
        <p:txBody>
          <a:bodyPr wrap="square" lIns="0" tIns="0" rIns="0" bIns="0" anchor="t">
            <a:spAutoFit/>
          </a:bodyPr>
          <a:lstStyle/>
          <a:p>
            <a:pPr algn="l"/>
            <a:r>
              <a:rPr sz="1000" b="0" i="1" u="none">
                <a:solidFill>
                  <a:srgbClr val="5B6B60"/>
                </a:solidFill>
                <a:latin typeface="Arial"/>
              </a:rPr>
              <a:t>How the garden is built, and what builds it</a:t>
            </a:r>
          </a:p>
        </p:txBody>
      </p:sp>
      <p:sp>
        <p:nvSpPr>
          <p:cNvPr id="13" name="Rectangle 12"/>
          <p:cNvSpPr/>
          <p:nvPr/>
        </p:nvSpPr>
        <p:spPr>
          <a:xfrm>
            <a:off x="1481328" y="918971"/>
            <a:ext cx="10232136" cy="10972"/>
          </a:xfrm>
          <a:prstGeom prst="rect">
            <a:avLst/>
          </a:prstGeom>
          <a:solidFill>
            <a:srgbClr val="DDE3D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1481328" y="914400"/>
            <a:ext cx="1417320" cy="29260"/>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75488" y="1060704"/>
            <a:ext cx="7315200" cy="219456"/>
          </a:xfrm>
          <a:prstGeom prst="rect">
            <a:avLst/>
          </a:prstGeom>
          <a:noFill/>
        </p:spPr>
        <p:txBody>
          <a:bodyPr wrap="square" lIns="0" tIns="0" rIns="0" bIns="0" anchor="t">
            <a:spAutoFit/>
          </a:bodyPr>
          <a:lstStyle/>
          <a:p>
            <a:pPr algn="l"/>
            <a:r>
              <a:rPr sz="1000" b="1" i="0" u="sng">
                <a:solidFill>
                  <a:srgbClr val="1F497D"/>
                </a:solidFill>
                <a:latin typeface="Arial"/>
              </a:rPr>
              <a:t>Technologies to be used (e.g. programming languages, frameworks, hardware)</a:t>
            </a:r>
          </a:p>
        </p:txBody>
      </p:sp>
      <p:sp>
        <p:nvSpPr>
          <p:cNvPr id="16" name="Rounded Rectangle 15"/>
          <p:cNvSpPr/>
          <p:nvPr/>
        </p:nvSpPr>
        <p:spPr>
          <a:xfrm>
            <a:off x="475488" y="1353312"/>
            <a:ext cx="1035100"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Oval 16"/>
          <p:cNvSpPr/>
          <p:nvPr/>
        </p:nvSpPr>
        <p:spPr>
          <a:xfrm>
            <a:off x="621792" y="1490472"/>
            <a:ext cx="64008" cy="64008"/>
          </a:xfrm>
          <a:prstGeom prst="ellipse">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749808" y="1353312"/>
            <a:ext cx="669340" cy="329184"/>
          </a:xfrm>
          <a:prstGeom prst="rect">
            <a:avLst/>
          </a:prstGeom>
          <a:noFill/>
        </p:spPr>
        <p:txBody>
          <a:bodyPr wrap="square" lIns="0" tIns="0" rIns="0" bIns="0" anchor="ctr">
            <a:spAutoFit/>
          </a:bodyPr>
          <a:lstStyle/>
          <a:p>
            <a:pPr algn="l"/>
            <a:r>
              <a:rPr sz="950" b="1" i="0" u="none">
                <a:solidFill>
                  <a:srgbClr val="12261C"/>
                </a:solidFill>
                <a:latin typeface="Arial"/>
              </a:rPr>
              <a:t>React 19</a:t>
            </a:r>
          </a:p>
        </p:txBody>
      </p:sp>
      <p:sp>
        <p:nvSpPr>
          <p:cNvPr id="19" name="Rounded Rectangle 18"/>
          <p:cNvSpPr/>
          <p:nvPr/>
        </p:nvSpPr>
        <p:spPr>
          <a:xfrm>
            <a:off x="1611172" y="1353312"/>
            <a:ext cx="1179576"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Oval 19"/>
          <p:cNvSpPr/>
          <p:nvPr/>
        </p:nvSpPr>
        <p:spPr>
          <a:xfrm>
            <a:off x="1757476" y="1490472"/>
            <a:ext cx="64008" cy="64008"/>
          </a:xfrm>
          <a:prstGeom prst="ellipse">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1885492" y="1353312"/>
            <a:ext cx="813816" cy="329184"/>
          </a:xfrm>
          <a:prstGeom prst="rect">
            <a:avLst/>
          </a:prstGeom>
          <a:noFill/>
        </p:spPr>
        <p:txBody>
          <a:bodyPr wrap="square" lIns="0" tIns="0" rIns="0" bIns="0" anchor="ctr">
            <a:spAutoFit/>
          </a:bodyPr>
          <a:lstStyle/>
          <a:p>
            <a:pPr algn="l"/>
            <a:r>
              <a:rPr sz="950" b="1" i="0" u="none">
                <a:solidFill>
                  <a:srgbClr val="12261C"/>
                </a:solidFill>
                <a:latin typeface="Arial"/>
              </a:rPr>
              <a:t>TypeScript</a:t>
            </a:r>
          </a:p>
        </p:txBody>
      </p:sp>
      <p:sp>
        <p:nvSpPr>
          <p:cNvPr id="22" name="Rounded Rectangle 21"/>
          <p:cNvSpPr/>
          <p:nvPr/>
        </p:nvSpPr>
        <p:spPr>
          <a:xfrm>
            <a:off x="2891332" y="1353312"/>
            <a:ext cx="890625"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Oval 22"/>
          <p:cNvSpPr/>
          <p:nvPr/>
        </p:nvSpPr>
        <p:spPr>
          <a:xfrm>
            <a:off x="3037636" y="1490472"/>
            <a:ext cx="64008" cy="64008"/>
          </a:xfrm>
          <a:prstGeom prst="ellipse">
            <a:avLst/>
          </a:prstGeom>
          <a:solidFill>
            <a:srgbClr val="C974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165652" y="1353312"/>
            <a:ext cx="524865" cy="329184"/>
          </a:xfrm>
          <a:prstGeom prst="rect">
            <a:avLst/>
          </a:prstGeom>
          <a:noFill/>
        </p:spPr>
        <p:txBody>
          <a:bodyPr wrap="square" lIns="0" tIns="0" rIns="0" bIns="0" anchor="ctr">
            <a:spAutoFit/>
          </a:bodyPr>
          <a:lstStyle/>
          <a:p>
            <a:pPr algn="l"/>
            <a:r>
              <a:rPr sz="950" b="1" i="0" u="none">
                <a:solidFill>
                  <a:srgbClr val="12261C"/>
                </a:solidFill>
                <a:latin typeface="Arial"/>
              </a:rPr>
              <a:t>Vite 8</a:t>
            </a:r>
          </a:p>
        </p:txBody>
      </p:sp>
      <p:sp>
        <p:nvSpPr>
          <p:cNvPr id="25" name="Rounded Rectangle 24"/>
          <p:cNvSpPr/>
          <p:nvPr/>
        </p:nvSpPr>
        <p:spPr>
          <a:xfrm>
            <a:off x="3882542" y="1353312"/>
            <a:ext cx="1396288"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Oval 25"/>
          <p:cNvSpPr/>
          <p:nvPr/>
        </p:nvSpPr>
        <p:spPr>
          <a:xfrm>
            <a:off x="4028846" y="1490472"/>
            <a:ext cx="64008" cy="64008"/>
          </a:xfrm>
          <a:prstGeom prst="ellipse">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4156862" y="1353312"/>
            <a:ext cx="1030528" cy="329184"/>
          </a:xfrm>
          <a:prstGeom prst="rect">
            <a:avLst/>
          </a:prstGeom>
          <a:noFill/>
        </p:spPr>
        <p:txBody>
          <a:bodyPr wrap="square" lIns="0" tIns="0" rIns="0" bIns="0" anchor="ctr">
            <a:spAutoFit/>
          </a:bodyPr>
          <a:lstStyle/>
          <a:p>
            <a:pPr algn="l"/>
            <a:r>
              <a:rPr sz="950" b="1" i="0" u="none">
                <a:solidFill>
                  <a:srgbClr val="12261C"/>
                </a:solidFill>
                <a:latin typeface="Arial"/>
              </a:rPr>
              <a:t>three.js r185</a:t>
            </a:r>
          </a:p>
        </p:txBody>
      </p:sp>
      <p:sp>
        <p:nvSpPr>
          <p:cNvPr id="28" name="Rounded Rectangle 27"/>
          <p:cNvSpPr/>
          <p:nvPr/>
        </p:nvSpPr>
        <p:spPr>
          <a:xfrm>
            <a:off x="5379415" y="1353312"/>
            <a:ext cx="1685239"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Oval 28"/>
          <p:cNvSpPr/>
          <p:nvPr/>
        </p:nvSpPr>
        <p:spPr>
          <a:xfrm>
            <a:off x="5525719" y="1490472"/>
            <a:ext cx="64008" cy="64008"/>
          </a:xfrm>
          <a:prstGeom prst="ellipse">
            <a:avLst/>
          </a:prstGeom>
          <a:solidFill>
            <a:srgbClr val="7C72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5653735" y="1353312"/>
            <a:ext cx="1319479" cy="329184"/>
          </a:xfrm>
          <a:prstGeom prst="rect">
            <a:avLst/>
          </a:prstGeom>
          <a:noFill/>
        </p:spPr>
        <p:txBody>
          <a:bodyPr wrap="square" lIns="0" tIns="0" rIns="0" bIns="0" anchor="ctr">
            <a:spAutoFit/>
          </a:bodyPr>
          <a:lstStyle/>
          <a:p>
            <a:pPr algn="l"/>
            <a:r>
              <a:rPr sz="950" b="1" i="0" u="none">
                <a:solidFill>
                  <a:srgbClr val="12261C"/>
                </a:solidFill>
                <a:latin typeface="Arial"/>
              </a:rPr>
              <a:t>React Three Fiber</a:t>
            </a:r>
          </a:p>
        </p:txBody>
      </p:sp>
      <p:sp>
        <p:nvSpPr>
          <p:cNvPr id="31" name="Rounded Rectangle 30"/>
          <p:cNvSpPr/>
          <p:nvPr/>
        </p:nvSpPr>
        <p:spPr>
          <a:xfrm>
            <a:off x="7165238" y="1353312"/>
            <a:ext cx="746150"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Oval 31"/>
          <p:cNvSpPr/>
          <p:nvPr/>
        </p:nvSpPr>
        <p:spPr>
          <a:xfrm>
            <a:off x="7311542" y="1490472"/>
            <a:ext cx="64008" cy="64008"/>
          </a:xfrm>
          <a:prstGeom prst="ellipse">
            <a:avLst/>
          </a:prstGeom>
          <a:solidFill>
            <a:srgbClr val="B95A7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7439558" y="1353312"/>
            <a:ext cx="380390" cy="329184"/>
          </a:xfrm>
          <a:prstGeom prst="rect">
            <a:avLst/>
          </a:prstGeom>
          <a:noFill/>
        </p:spPr>
        <p:txBody>
          <a:bodyPr wrap="square" lIns="0" tIns="0" rIns="0" bIns="0" anchor="ctr">
            <a:spAutoFit/>
          </a:bodyPr>
          <a:lstStyle/>
          <a:p>
            <a:pPr algn="l"/>
            <a:r>
              <a:rPr sz="950" b="1" i="0" u="none">
                <a:solidFill>
                  <a:srgbClr val="12261C"/>
                </a:solidFill>
                <a:latin typeface="Arial"/>
              </a:rPr>
              <a:t>drei</a:t>
            </a:r>
          </a:p>
        </p:txBody>
      </p:sp>
      <p:sp>
        <p:nvSpPr>
          <p:cNvPr id="34" name="Rounded Rectangle 33"/>
          <p:cNvSpPr/>
          <p:nvPr/>
        </p:nvSpPr>
        <p:spPr>
          <a:xfrm>
            <a:off x="8011972" y="1353312"/>
            <a:ext cx="2552090"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Oval 34"/>
          <p:cNvSpPr/>
          <p:nvPr/>
        </p:nvSpPr>
        <p:spPr>
          <a:xfrm>
            <a:off x="8158276" y="1490472"/>
            <a:ext cx="64008" cy="64008"/>
          </a:xfrm>
          <a:prstGeom prst="ellipse">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8286292" y="1353312"/>
            <a:ext cx="2186330" cy="329184"/>
          </a:xfrm>
          <a:prstGeom prst="rect">
            <a:avLst/>
          </a:prstGeom>
          <a:noFill/>
        </p:spPr>
        <p:txBody>
          <a:bodyPr wrap="square" lIns="0" tIns="0" rIns="0" bIns="0" anchor="ctr">
            <a:spAutoFit/>
          </a:bodyPr>
          <a:lstStyle/>
          <a:p>
            <a:pPr algn="l"/>
            <a:r>
              <a:rPr sz="950" b="1" i="0" u="none">
                <a:solidFill>
                  <a:srgbClr val="12261C"/>
                </a:solidFill>
                <a:latin typeface="Arial"/>
              </a:rPr>
              <a:t>Custom GLSL (wind + venation)</a:t>
            </a:r>
          </a:p>
        </p:txBody>
      </p:sp>
      <p:sp>
        <p:nvSpPr>
          <p:cNvPr id="37" name="Rounded Rectangle 36"/>
          <p:cNvSpPr/>
          <p:nvPr/>
        </p:nvSpPr>
        <p:spPr>
          <a:xfrm>
            <a:off x="475488" y="1755648"/>
            <a:ext cx="1540764"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Oval 37"/>
          <p:cNvSpPr/>
          <p:nvPr/>
        </p:nvSpPr>
        <p:spPr>
          <a:xfrm>
            <a:off x="621792" y="1892807"/>
            <a:ext cx="64008" cy="64008"/>
          </a:xfrm>
          <a:prstGeom prst="ellipse">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749808" y="1755648"/>
            <a:ext cx="1175004" cy="329184"/>
          </a:xfrm>
          <a:prstGeom prst="rect">
            <a:avLst/>
          </a:prstGeom>
          <a:noFill/>
        </p:spPr>
        <p:txBody>
          <a:bodyPr wrap="square" lIns="0" tIns="0" rIns="0" bIns="0" anchor="ctr">
            <a:spAutoFit/>
          </a:bodyPr>
          <a:lstStyle/>
          <a:p>
            <a:pPr algn="l"/>
            <a:r>
              <a:rPr sz="950" b="1" i="0" u="none">
                <a:solidFill>
                  <a:srgbClr val="12261C"/>
                </a:solidFill>
                <a:latin typeface="Arial"/>
              </a:rPr>
              <a:t>Tailwind CSS v4</a:t>
            </a:r>
          </a:p>
        </p:txBody>
      </p:sp>
      <p:sp>
        <p:nvSpPr>
          <p:cNvPr id="40" name="Rounded Rectangle 39"/>
          <p:cNvSpPr/>
          <p:nvPr/>
        </p:nvSpPr>
        <p:spPr>
          <a:xfrm>
            <a:off x="2116836" y="1755648"/>
            <a:ext cx="2046427"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Oval 40"/>
          <p:cNvSpPr/>
          <p:nvPr/>
        </p:nvSpPr>
        <p:spPr>
          <a:xfrm>
            <a:off x="2263140" y="1892807"/>
            <a:ext cx="64008" cy="64008"/>
          </a:xfrm>
          <a:prstGeom prst="ellipse">
            <a:avLst/>
          </a:prstGeom>
          <a:solidFill>
            <a:srgbClr val="C974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2391156" y="1755648"/>
            <a:ext cx="1680667" cy="329184"/>
          </a:xfrm>
          <a:prstGeom prst="rect">
            <a:avLst/>
          </a:prstGeom>
          <a:noFill/>
        </p:spPr>
        <p:txBody>
          <a:bodyPr wrap="square" lIns="0" tIns="0" rIns="0" bIns="0" anchor="ctr">
            <a:spAutoFit/>
          </a:bodyPr>
          <a:lstStyle/>
          <a:p>
            <a:pPr algn="l"/>
            <a:r>
              <a:rPr sz="950" b="1" i="0" u="none">
                <a:solidFill>
                  <a:srgbClr val="12261C"/>
                </a:solidFill>
                <a:latin typeface="Arial"/>
              </a:rPr>
              <a:t>Zustand + localStorage</a:t>
            </a:r>
          </a:p>
        </p:txBody>
      </p:sp>
      <p:sp>
        <p:nvSpPr>
          <p:cNvPr id="43" name="Rounded Rectangle 42"/>
          <p:cNvSpPr/>
          <p:nvPr/>
        </p:nvSpPr>
        <p:spPr>
          <a:xfrm>
            <a:off x="4263847" y="1755648"/>
            <a:ext cx="1468526"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Oval 43"/>
          <p:cNvSpPr/>
          <p:nvPr/>
        </p:nvSpPr>
        <p:spPr>
          <a:xfrm>
            <a:off x="4410151" y="1892807"/>
            <a:ext cx="64008" cy="64008"/>
          </a:xfrm>
          <a:prstGeom prst="ellipse">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4538167" y="1755648"/>
            <a:ext cx="1102766" cy="329184"/>
          </a:xfrm>
          <a:prstGeom prst="rect">
            <a:avLst/>
          </a:prstGeom>
          <a:noFill/>
        </p:spPr>
        <p:txBody>
          <a:bodyPr wrap="square" lIns="0" tIns="0" rIns="0" bIns="0" anchor="ctr">
            <a:spAutoFit/>
          </a:bodyPr>
          <a:lstStyle/>
          <a:p>
            <a:pPr algn="l"/>
            <a:r>
              <a:rPr sz="950" b="1" i="0" u="none">
                <a:solidFill>
                  <a:srgbClr val="12261C"/>
                </a:solidFill>
                <a:latin typeface="Arial"/>
              </a:rPr>
              <a:t>React Router 7</a:t>
            </a:r>
          </a:p>
        </p:txBody>
      </p:sp>
      <p:sp>
        <p:nvSpPr>
          <p:cNvPr id="46" name="Rounded Rectangle 45"/>
          <p:cNvSpPr/>
          <p:nvPr/>
        </p:nvSpPr>
        <p:spPr>
          <a:xfrm>
            <a:off x="5832957" y="1755648"/>
            <a:ext cx="1468526"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Oval 46"/>
          <p:cNvSpPr/>
          <p:nvPr/>
        </p:nvSpPr>
        <p:spPr>
          <a:xfrm>
            <a:off x="5979261" y="1892807"/>
            <a:ext cx="64008" cy="64008"/>
          </a:xfrm>
          <a:prstGeom prst="ellipse">
            <a:avLst/>
          </a:prstGeom>
          <a:solidFill>
            <a:srgbClr val="7C72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6107277" y="1755648"/>
            <a:ext cx="1102766" cy="329184"/>
          </a:xfrm>
          <a:prstGeom prst="rect">
            <a:avLst/>
          </a:prstGeom>
          <a:noFill/>
        </p:spPr>
        <p:txBody>
          <a:bodyPr wrap="square" lIns="0" tIns="0" rIns="0" bIns="0" anchor="ctr">
            <a:spAutoFit/>
          </a:bodyPr>
          <a:lstStyle/>
          <a:p>
            <a:pPr algn="l"/>
            <a:r>
              <a:rPr sz="950" b="1" i="0" u="none">
                <a:solidFill>
                  <a:srgbClr val="12261C"/>
                </a:solidFill>
                <a:latin typeface="Arial"/>
              </a:rPr>
              <a:t>Web Speech API</a:t>
            </a:r>
          </a:p>
        </p:txBody>
      </p:sp>
      <p:sp>
        <p:nvSpPr>
          <p:cNvPr id="49" name="Rounded Rectangle 48"/>
          <p:cNvSpPr/>
          <p:nvPr/>
        </p:nvSpPr>
        <p:spPr>
          <a:xfrm>
            <a:off x="7402068" y="1755648"/>
            <a:ext cx="2407615" cy="329184"/>
          </a:xfrm>
          <a:prstGeom prst="roundRect">
            <a:avLst>
              <a:gd name="adj" fmla="val 5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Oval 49"/>
          <p:cNvSpPr/>
          <p:nvPr/>
        </p:nvSpPr>
        <p:spPr>
          <a:xfrm>
            <a:off x="7548372" y="1892807"/>
            <a:ext cx="64008" cy="64008"/>
          </a:xfrm>
          <a:prstGeom prst="ellipse">
            <a:avLst/>
          </a:prstGeom>
          <a:solidFill>
            <a:srgbClr val="B95A7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7676388" y="1755648"/>
            <a:ext cx="2041855" cy="329184"/>
          </a:xfrm>
          <a:prstGeom prst="rect">
            <a:avLst/>
          </a:prstGeom>
          <a:noFill/>
        </p:spPr>
        <p:txBody>
          <a:bodyPr wrap="square" lIns="0" tIns="0" rIns="0" bIns="0" anchor="ctr">
            <a:spAutoFit/>
          </a:bodyPr>
          <a:lstStyle/>
          <a:p>
            <a:pPr algn="l"/>
            <a:r>
              <a:rPr sz="950" b="1" i="0" u="none">
                <a:solidFill>
                  <a:srgbClr val="12261C"/>
                </a:solidFill>
                <a:latin typeface="Arial"/>
              </a:rPr>
              <a:t>No backend · static hosting</a:t>
            </a:r>
          </a:p>
        </p:txBody>
      </p:sp>
      <p:sp>
        <p:nvSpPr>
          <p:cNvPr id="52" name="TextBox 51"/>
          <p:cNvSpPr txBox="1"/>
          <p:nvPr/>
        </p:nvSpPr>
        <p:spPr>
          <a:xfrm>
            <a:off x="475488" y="2304288"/>
            <a:ext cx="8229600" cy="219456"/>
          </a:xfrm>
          <a:prstGeom prst="rect">
            <a:avLst/>
          </a:prstGeom>
          <a:noFill/>
        </p:spPr>
        <p:txBody>
          <a:bodyPr wrap="square" lIns="0" tIns="0" rIns="0" bIns="0" anchor="t">
            <a:spAutoFit/>
          </a:bodyPr>
          <a:lstStyle/>
          <a:p>
            <a:pPr algn="l"/>
            <a:r>
              <a:rPr sz="1000" b="1" i="0" u="sng">
                <a:solidFill>
                  <a:srgbClr val="1F497D"/>
                </a:solidFill>
                <a:latin typeface="Arial"/>
              </a:rPr>
              <a:t>Methodology and process for implementation (Flow Charts/Images/ working prototype)</a:t>
            </a:r>
          </a:p>
        </p:txBody>
      </p:sp>
      <p:sp>
        <p:nvSpPr>
          <p:cNvPr id="53" name="Pentagon 52"/>
          <p:cNvSpPr/>
          <p:nvPr/>
        </p:nvSpPr>
        <p:spPr>
          <a:xfrm>
            <a:off x="475488" y="2615184"/>
            <a:ext cx="1972056" cy="914400"/>
          </a:xfrm>
          <a:prstGeom prst="homePlate">
            <a:avLst>
              <a:gd name="adj" fmla="val 22000"/>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155448" tIns="0" rIns="64008" bIns="0" rtlCol="0" anchor="ctr"/>
          <a:lstStyle/>
          <a:p>
            <a:pPr algn="ctr">
              <a:lnSpc>
                <a:spcPct val="92000"/>
              </a:lnSpc>
            </a:pPr>
            <a:r>
              <a:rPr sz="900" b="1" i="0" u="none">
                <a:solidFill>
                  <a:srgbClr val="FFFFFF"/>
                </a:solidFill>
                <a:latin typeface="Arial"/>
              </a:rPr>
              <a:t>Botanical spec</a:t>
            </a:r>
          </a:p>
          <a:p>
            <a:pPr algn="ctr">
              <a:lnSpc>
                <a:spcPct val="92000"/>
              </a:lnSpc>
              <a:spcBef>
                <a:spcPts val="200"/>
              </a:spcBef>
            </a:pPr>
            <a:r>
              <a:rPr sz="700" b="0" i="0" u="none">
                <a:solidFill>
                  <a:srgbClr val="FFFFFF"/>
                </a:solidFill>
                <a:latin typeface="Arial"/>
              </a:rPr>
              <a:t>shape · phyllotaxy · branching</a:t>
            </a:r>
          </a:p>
        </p:txBody>
      </p:sp>
      <p:sp>
        <p:nvSpPr>
          <p:cNvPr id="54" name="Chevron 53"/>
          <p:cNvSpPr/>
          <p:nvPr/>
        </p:nvSpPr>
        <p:spPr>
          <a:xfrm>
            <a:off x="2328672" y="2615184"/>
            <a:ext cx="1972056" cy="914400"/>
          </a:xfrm>
          <a:prstGeom prst="chevron">
            <a:avLst>
              <a:gd name="adj" fmla="val 22000"/>
            </a:avLst>
          </a:prstGeom>
          <a:solidFill>
            <a:srgbClr val="27784F"/>
          </a:solidFill>
          <a:ln>
            <a:noFill/>
          </a:ln>
          <a:effectLst/>
        </p:spPr>
        <p:style>
          <a:lnRef idx="1">
            <a:schemeClr val="accent1"/>
          </a:lnRef>
          <a:fillRef idx="3">
            <a:schemeClr val="accent1"/>
          </a:fillRef>
          <a:effectRef idx="2">
            <a:schemeClr val="accent1"/>
          </a:effectRef>
          <a:fontRef idx="minor">
            <a:schemeClr val="lt1"/>
          </a:fontRef>
        </p:style>
        <p:txBody>
          <a:bodyPr wrap="square" lIns="155448" tIns="0" rIns="64008" bIns="0" rtlCol="0" anchor="ctr"/>
          <a:lstStyle/>
          <a:p>
            <a:pPr algn="ctr">
              <a:lnSpc>
                <a:spcPct val="92000"/>
              </a:lnSpc>
            </a:pPr>
            <a:r>
              <a:rPr sz="900" b="1" i="0" u="none">
                <a:solidFill>
                  <a:srgbClr val="FFFFFF"/>
                </a:solidFill>
                <a:latin typeface="Arial"/>
              </a:rPr>
              <a:t>Archetype skeleton</a:t>
            </a:r>
          </a:p>
          <a:p>
            <a:pPr algn="ctr">
              <a:lnSpc>
                <a:spcPct val="92000"/>
              </a:lnSpc>
              <a:spcBef>
                <a:spcPts val="200"/>
              </a:spcBef>
            </a:pPr>
            <a:r>
              <a:rPr sz="700" b="0" i="0" u="none">
                <a:solidFill>
                  <a:srgbClr val="FFFFFF"/>
                </a:solidFill>
                <a:latin typeface="Arial"/>
              </a:rPr>
              <a:t>herb · shrub · tree · climber</a:t>
            </a:r>
          </a:p>
        </p:txBody>
      </p:sp>
      <p:sp>
        <p:nvSpPr>
          <p:cNvPr id="55" name="Chevron 54"/>
          <p:cNvSpPr/>
          <p:nvPr/>
        </p:nvSpPr>
        <p:spPr>
          <a:xfrm>
            <a:off x="4181856" y="2615184"/>
            <a:ext cx="1972056" cy="914400"/>
          </a:xfrm>
          <a:prstGeom prst="chevron">
            <a:avLst>
              <a:gd name="adj" fmla="val 22000"/>
            </a:avLst>
          </a:prstGeom>
          <a:solidFill>
            <a:srgbClr val="318A5B"/>
          </a:solidFill>
          <a:ln>
            <a:noFill/>
          </a:ln>
          <a:effectLst/>
        </p:spPr>
        <p:style>
          <a:lnRef idx="1">
            <a:schemeClr val="accent1"/>
          </a:lnRef>
          <a:fillRef idx="3">
            <a:schemeClr val="accent1"/>
          </a:fillRef>
          <a:effectRef idx="2">
            <a:schemeClr val="accent1"/>
          </a:effectRef>
          <a:fontRef idx="minor">
            <a:schemeClr val="lt1"/>
          </a:fontRef>
        </p:style>
        <p:txBody>
          <a:bodyPr wrap="square" lIns="155448" tIns="0" rIns="64008" bIns="0" rtlCol="0" anchor="ctr"/>
          <a:lstStyle/>
          <a:p>
            <a:pPr algn="ctr">
              <a:lnSpc>
                <a:spcPct val="92000"/>
              </a:lnSpc>
            </a:pPr>
            <a:r>
              <a:rPr sz="900" b="1" i="0" u="none">
                <a:solidFill>
                  <a:srgbClr val="FFFFFF"/>
                </a:solidFill>
                <a:latin typeface="Arial"/>
              </a:rPr>
              <a:t>Leaf profile + phyllotaxy</a:t>
            </a:r>
          </a:p>
          <a:p>
            <a:pPr algn="ctr">
              <a:lnSpc>
                <a:spcPct val="92000"/>
              </a:lnSpc>
              <a:spcBef>
                <a:spcPts val="200"/>
              </a:spcBef>
            </a:pPr>
            <a:r>
              <a:rPr sz="700" b="0" i="0" u="none">
                <a:solidFill>
                  <a:srgbClr val="FFFFFF"/>
                </a:solidFill>
                <a:latin typeface="Arial"/>
              </a:rPr>
              <a:t>golden angle, parametric blade</a:t>
            </a:r>
          </a:p>
        </p:txBody>
      </p:sp>
      <p:sp>
        <p:nvSpPr>
          <p:cNvPr id="56" name="Chevron 55"/>
          <p:cNvSpPr/>
          <p:nvPr/>
        </p:nvSpPr>
        <p:spPr>
          <a:xfrm>
            <a:off x="6035040" y="2615184"/>
            <a:ext cx="1972056" cy="914400"/>
          </a:xfrm>
          <a:prstGeom prst="chevron">
            <a:avLst>
              <a:gd name="adj" fmla="val 22000"/>
            </a:avLst>
          </a:prstGeom>
          <a:solidFill>
            <a:srgbClr val="3E9C69"/>
          </a:solidFill>
          <a:ln>
            <a:noFill/>
          </a:ln>
          <a:effectLst/>
        </p:spPr>
        <p:style>
          <a:lnRef idx="1">
            <a:schemeClr val="accent1"/>
          </a:lnRef>
          <a:fillRef idx="3">
            <a:schemeClr val="accent1"/>
          </a:fillRef>
          <a:effectRef idx="2">
            <a:schemeClr val="accent1"/>
          </a:effectRef>
          <a:fontRef idx="minor">
            <a:schemeClr val="lt1"/>
          </a:fontRef>
        </p:style>
        <p:txBody>
          <a:bodyPr wrap="square" lIns="155448" tIns="0" rIns="64008" bIns="0" rtlCol="0" anchor="ctr"/>
          <a:lstStyle/>
          <a:p>
            <a:pPr algn="ctr">
              <a:lnSpc>
                <a:spcPct val="92000"/>
              </a:lnSpc>
            </a:pPr>
            <a:r>
              <a:rPr sz="900" b="1" i="0" u="none">
                <a:solidFill>
                  <a:srgbClr val="FFFFFF"/>
                </a:solidFill>
                <a:latin typeface="Arial"/>
              </a:rPr>
              <a:t>Flowers · fruit · rhizome</a:t>
            </a:r>
          </a:p>
          <a:p>
            <a:pPr algn="ctr">
              <a:lnSpc>
                <a:spcPct val="92000"/>
              </a:lnSpc>
              <a:spcBef>
                <a:spcPts val="200"/>
              </a:spcBef>
            </a:pPr>
            <a:r>
              <a:rPr sz="700" b="0" i="0" u="none">
                <a:solidFill>
                  <a:srgbClr val="FFFFFF"/>
                </a:solidFill>
                <a:latin typeface="Arial"/>
              </a:rPr>
              <a:t>spike · umbel · panicle · pod</a:t>
            </a:r>
          </a:p>
        </p:txBody>
      </p:sp>
      <p:sp>
        <p:nvSpPr>
          <p:cNvPr id="57" name="Chevron 56"/>
          <p:cNvSpPr/>
          <p:nvPr/>
        </p:nvSpPr>
        <p:spPr>
          <a:xfrm>
            <a:off x="7888224" y="2615184"/>
            <a:ext cx="1972056" cy="914400"/>
          </a:xfrm>
          <a:prstGeom prst="chevron">
            <a:avLst>
              <a:gd name="adj" fmla="val 22000"/>
            </a:avLst>
          </a:prstGeom>
          <a:solidFill>
            <a:srgbClr val="55B07E"/>
          </a:solidFill>
          <a:ln>
            <a:noFill/>
          </a:ln>
          <a:effectLst/>
        </p:spPr>
        <p:style>
          <a:lnRef idx="1">
            <a:schemeClr val="accent1"/>
          </a:lnRef>
          <a:fillRef idx="3">
            <a:schemeClr val="accent1"/>
          </a:fillRef>
          <a:effectRef idx="2">
            <a:schemeClr val="accent1"/>
          </a:effectRef>
          <a:fontRef idx="minor">
            <a:schemeClr val="lt1"/>
          </a:fontRef>
        </p:style>
        <p:txBody>
          <a:bodyPr wrap="square" lIns="155448" tIns="0" rIns="64008" bIns="0" rtlCol="0" anchor="ctr"/>
          <a:lstStyle/>
          <a:p>
            <a:pPr algn="ctr">
              <a:lnSpc>
                <a:spcPct val="92000"/>
              </a:lnSpc>
            </a:pPr>
            <a:r>
              <a:rPr sz="900" b="1" i="0" u="none">
                <a:solidFill>
                  <a:srgbClr val="12261C"/>
                </a:solidFill>
                <a:latin typeface="Arial"/>
              </a:rPr>
              <a:t>Merge to ≤6 geometries</a:t>
            </a:r>
          </a:p>
          <a:p>
            <a:pPr algn="ctr">
              <a:lnSpc>
                <a:spcPct val="92000"/>
              </a:lnSpc>
              <a:spcBef>
                <a:spcPts val="200"/>
              </a:spcBef>
            </a:pPr>
            <a:r>
              <a:rPr sz="700" b="0" i="0" u="none">
                <a:solidFill>
                  <a:srgbClr val="12261C"/>
                </a:solidFill>
                <a:latin typeface="Arial"/>
              </a:rPr>
              <a:t>one per material</a:t>
            </a:r>
          </a:p>
        </p:txBody>
      </p:sp>
      <p:sp>
        <p:nvSpPr>
          <p:cNvPr id="58" name="Chevron 57"/>
          <p:cNvSpPr/>
          <p:nvPr/>
        </p:nvSpPr>
        <p:spPr>
          <a:xfrm>
            <a:off x="9741408" y="2615184"/>
            <a:ext cx="1972056" cy="914400"/>
          </a:xfrm>
          <a:prstGeom prst="chevron">
            <a:avLst>
              <a:gd name="adj" fmla="val 22000"/>
            </a:avLst>
          </a:prstGeom>
          <a:solidFill>
            <a:srgbClr val="7FC79B"/>
          </a:solidFill>
          <a:ln>
            <a:noFill/>
          </a:ln>
          <a:effectLst/>
        </p:spPr>
        <p:style>
          <a:lnRef idx="1">
            <a:schemeClr val="accent1"/>
          </a:lnRef>
          <a:fillRef idx="3">
            <a:schemeClr val="accent1"/>
          </a:fillRef>
          <a:effectRef idx="2">
            <a:schemeClr val="accent1"/>
          </a:effectRef>
          <a:fontRef idx="minor">
            <a:schemeClr val="lt1"/>
          </a:fontRef>
        </p:style>
        <p:txBody>
          <a:bodyPr wrap="square" lIns="155448" tIns="0" rIns="64008" bIns="0" rtlCol="0" anchor="ctr"/>
          <a:lstStyle/>
          <a:p>
            <a:pPr algn="ctr">
              <a:lnSpc>
                <a:spcPct val="92000"/>
              </a:lnSpc>
            </a:pPr>
            <a:r>
              <a:rPr sz="900" b="1" i="0" u="none">
                <a:solidFill>
                  <a:srgbClr val="12261C"/>
                </a:solidFill>
                <a:latin typeface="Arial"/>
              </a:rPr>
              <a:t>One wind + vein shader</a:t>
            </a:r>
          </a:p>
          <a:p>
            <a:pPr algn="ctr">
              <a:lnSpc>
                <a:spcPct val="92000"/>
              </a:lnSpc>
              <a:spcBef>
                <a:spcPts val="200"/>
              </a:spcBef>
            </a:pPr>
            <a:r>
              <a:rPr sz="700" b="0" i="0" u="none">
                <a:solidFill>
                  <a:srgbClr val="12261C"/>
                </a:solidFill>
                <a:latin typeface="Arial"/>
              </a:rPr>
              <a:t>shared program → GPU</a:t>
            </a:r>
          </a:p>
        </p:txBody>
      </p:sp>
      <p:sp>
        <p:nvSpPr>
          <p:cNvPr id="59" name="Rounded Rectangle 58"/>
          <p:cNvSpPr/>
          <p:nvPr/>
        </p:nvSpPr>
        <p:spPr>
          <a:xfrm>
            <a:off x="475488" y="3712463"/>
            <a:ext cx="6720840" cy="658368"/>
          </a:xfrm>
          <a:prstGeom prst="roundRect">
            <a:avLst>
              <a:gd name="adj" fmla="val 10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ectangle 59"/>
          <p:cNvSpPr/>
          <p:nvPr/>
        </p:nvSpPr>
        <p:spPr>
          <a:xfrm>
            <a:off x="475488" y="3803903"/>
            <a:ext cx="50292" cy="475488"/>
          </a:xfrm>
          <a:prstGeom prst="rect">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31520" y="3712463"/>
            <a:ext cx="6309360" cy="658368"/>
          </a:xfrm>
          <a:prstGeom prst="rect">
            <a:avLst/>
          </a:prstGeom>
          <a:noFill/>
        </p:spPr>
        <p:txBody>
          <a:bodyPr wrap="square" lIns="0" tIns="0" rIns="0" bIns="0" anchor="ctr">
            <a:spAutoFit/>
          </a:bodyPr>
          <a:lstStyle/>
          <a:p>
            <a:pPr algn="l"/>
            <a:r>
              <a:rPr sz="1150" b="1" i="0" u="none">
                <a:solidFill>
                  <a:srgbClr val="12261C"/>
                </a:solidFill>
                <a:latin typeface="Arial"/>
              </a:rPr>
              <a:t>≤ 6 geometries per plant</a:t>
            </a:r>
          </a:p>
          <a:p>
            <a:pPr algn="l">
              <a:spcBef>
                <a:spcPts val="200"/>
              </a:spcBef>
            </a:pPr>
            <a:r>
              <a:rPr sz="900" b="0" i="0" u="none">
                <a:solidFill>
                  <a:srgbClr val="5B6B60"/>
                </a:solidFill>
                <a:latin typeface="Arial"/>
              </a:rPr>
              <a:t>merged by material — not hundreds of meshes</a:t>
            </a:r>
          </a:p>
        </p:txBody>
      </p:sp>
      <p:sp>
        <p:nvSpPr>
          <p:cNvPr id="62" name="Rounded Rectangle 61"/>
          <p:cNvSpPr/>
          <p:nvPr/>
        </p:nvSpPr>
        <p:spPr>
          <a:xfrm>
            <a:off x="475488" y="4425696"/>
            <a:ext cx="6720840" cy="658368"/>
          </a:xfrm>
          <a:prstGeom prst="roundRect">
            <a:avLst>
              <a:gd name="adj" fmla="val 10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Rectangle 62"/>
          <p:cNvSpPr/>
          <p:nvPr/>
        </p:nvSpPr>
        <p:spPr>
          <a:xfrm>
            <a:off x="475488" y="4517136"/>
            <a:ext cx="50292" cy="475488"/>
          </a:xfrm>
          <a:prstGeom prst="rect">
            <a:avLst/>
          </a:prstGeom>
          <a:solidFill>
            <a:srgbClr val="C974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731520" y="4425696"/>
            <a:ext cx="6309360" cy="658368"/>
          </a:xfrm>
          <a:prstGeom prst="rect">
            <a:avLst/>
          </a:prstGeom>
          <a:noFill/>
        </p:spPr>
        <p:txBody>
          <a:bodyPr wrap="square" lIns="0" tIns="0" rIns="0" bIns="0" anchor="ctr">
            <a:spAutoFit/>
          </a:bodyPr>
          <a:lstStyle/>
          <a:p>
            <a:pPr algn="l"/>
            <a:r>
              <a:rPr sz="1150" b="1" i="0" u="none">
                <a:solidFill>
                  <a:srgbClr val="12261C"/>
                </a:solidFill>
                <a:latin typeface="Arial"/>
              </a:rPr>
              <a:t>~2,600 grass tufts in 2 draw calls</a:t>
            </a:r>
          </a:p>
          <a:p>
            <a:pPr algn="l">
              <a:spcBef>
                <a:spcPts val="200"/>
              </a:spcBef>
            </a:pPr>
            <a:r>
              <a:rPr sz="900" b="0" i="0" u="none">
                <a:solidFill>
                  <a:srgbClr val="5B6B60"/>
                </a:solidFill>
                <a:latin typeface="Arial"/>
              </a:rPr>
              <a:t>instanced lawn and bed undergrowth</a:t>
            </a:r>
          </a:p>
        </p:txBody>
      </p:sp>
      <p:sp>
        <p:nvSpPr>
          <p:cNvPr id="65" name="Rounded Rectangle 64"/>
          <p:cNvSpPr/>
          <p:nvPr/>
        </p:nvSpPr>
        <p:spPr>
          <a:xfrm>
            <a:off x="475488" y="5138928"/>
            <a:ext cx="6720840" cy="658368"/>
          </a:xfrm>
          <a:prstGeom prst="roundRect">
            <a:avLst>
              <a:gd name="adj" fmla="val 10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475488" y="5230368"/>
            <a:ext cx="50292" cy="475488"/>
          </a:xfrm>
          <a:prstGeom prst="rect">
            <a:avLst/>
          </a:prstGeom>
          <a:solidFill>
            <a:srgbClr val="7C72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31520" y="5138928"/>
            <a:ext cx="6309360" cy="658368"/>
          </a:xfrm>
          <a:prstGeom prst="rect">
            <a:avLst/>
          </a:prstGeom>
          <a:noFill/>
        </p:spPr>
        <p:txBody>
          <a:bodyPr wrap="square" lIns="0" tIns="0" rIns="0" bIns="0" anchor="ctr">
            <a:spAutoFit/>
          </a:bodyPr>
          <a:lstStyle/>
          <a:p>
            <a:pPr algn="l"/>
            <a:r>
              <a:rPr sz="1150" b="1" i="0" u="none">
                <a:solidFill>
                  <a:srgbClr val="12261C"/>
                </a:solidFill>
                <a:latin typeface="Arial"/>
              </a:rPr>
              <a:t>~60k triangles, built in under 100 ms</a:t>
            </a:r>
          </a:p>
          <a:p>
            <a:pPr algn="l">
              <a:spcBef>
                <a:spcPts val="200"/>
              </a:spcBef>
            </a:pPr>
            <a:r>
              <a:rPr sz="900" b="0" i="0" u="none">
                <a:solidFill>
                  <a:srgbClr val="5B6B60"/>
                </a:solidFill>
                <a:latin typeface="Arial"/>
              </a:rPr>
              <a:t>light preset; nothing fetched from a CDN</a:t>
            </a:r>
          </a:p>
        </p:txBody>
      </p:sp>
      <p:sp>
        <p:nvSpPr>
          <p:cNvPr id="68" name="TextBox 67"/>
          <p:cNvSpPr txBox="1"/>
          <p:nvPr/>
        </p:nvSpPr>
        <p:spPr>
          <a:xfrm>
            <a:off x="475488" y="5888736"/>
            <a:ext cx="6720840" cy="329184"/>
          </a:xfrm>
          <a:prstGeom prst="rect">
            <a:avLst/>
          </a:prstGeom>
          <a:noFill/>
        </p:spPr>
        <p:txBody>
          <a:bodyPr wrap="square" lIns="0" tIns="0" rIns="0" bIns="0" anchor="t">
            <a:spAutoFit/>
          </a:bodyPr>
          <a:lstStyle/>
          <a:p>
            <a:pPr algn="l">
              <a:lnSpc>
                <a:spcPct val="104000"/>
              </a:lnSpc>
            </a:pPr>
            <a:r>
              <a:rPr sz="850" b="1" i="0" u="none">
                <a:solidFill>
                  <a:srgbClr val="1E6B45"/>
                </a:solidFill>
                <a:latin typeface="Arial"/>
              </a:rPr>
              <a:t>Leaf budget: </a:t>
            </a:r>
            <a:r>
              <a:rPr sz="850" b="0" i="0" u="none">
                <a:solidFill>
                  <a:srgbClr val="5B6B60"/>
                </a:solidFill>
                <a:latin typeface="Arial"/>
              </a:rPr>
              <a:t>an up-front axis census thins the whole plant evenly instead of spending every leaf on the first limb. Detail auto-detected from CPU cores, device memory and pointer type; three presets in Settings.</a:t>
            </a:r>
          </a:p>
        </p:txBody>
      </p:sp>
      <p:sp>
        <p:nvSpPr>
          <p:cNvPr id="69" name="IMAGE PLACEHOLDER - IMAGE 3"/>
          <p:cNvSpPr/>
          <p:nvPr/>
        </p:nvSpPr>
        <p:spPr>
          <a:xfrm>
            <a:off x="7360920" y="3749039"/>
            <a:ext cx="4352544" cy="2395728"/>
          </a:xfrm>
          <a:prstGeom prst="roundRect">
            <a:avLst>
              <a:gd name="adj" fmla="val 5000"/>
            </a:avLst>
          </a:prstGeom>
          <a:solidFill>
            <a:srgbClr val="ECF1EA"/>
          </a:solid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7562088" y="3749039"/>
            <a:ext cx="3950207" cy="2395728"/>
          </a:xfrm>
          <a:prstGeom prst="rect">
            <a:avLst/>
          </a:prstGeom>
          <a:noFill/>
        </p:spPr>
        <p:txBody>
          <a:bodyPr wrap="square" lIns="0" tIns="0" rIns="0" bIns="0" anchor="ctr">
            <a:spAutoFit/>
          </a:bodyPr>
          <a:lstStyle/>
          <a:p>
            <a:pPr algn="ctr"/>
            <a:r>
              <a:rPr sz="1050" b="1" i="0" u="none" spc="120">
                <a:solidFill>
                  <a:srgbClr val="1E6B45"/>
                </a:solidFill>
                <a:latin typeface="Arial"/>
              </a:rPr>
              <a:t>IMAGE 3</a:t>
            </a:r>
          </a:p>
          <a:p>
            <a:pPr algn="ctr">
              <a:spcBef>
                <a:spcPts val="400"/>
              </a:spcBef>
            </a:pPr>
            <a:r>
              <a:rPr sz="900" b="0" i="1" u="none">
                <a:solidFill>
                  <a:srgbClr val="5B6B60"/>
                </a:solidFill>
                <a:latin typeface="Arial"/>
              </a:rPr>
              <a:t>Wireframe leaf resolving into a shaded one</a:t>
            </a:r>
          </a:p>
          <a:p>
            <a:pPr algn="ctr">
              <a:spcBef>
                <a:spcPts val="500"/>
              </a:spcBef>
            </a:pPr>
            <a:r>
              <a:rPr sz="750" b="0" i="0" u="none">
                <a:solidFill>
                  <a:srgbClr val="8A978D"/>
                </a:solidFill>
                <a:latin typeface="Arial"/>
              </a:rPr>
              <a:t>replace with the AI image (prompt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6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20"/>
                                        <p:tgtEl>
                                          <p:spTgt spid="16"/>
                                        </p:tgtEl>
                                      </p:cBhvr>
                                    </p:animEffect>
                                  </p:childTnLst>
                                </p:cTn>
                              </p:par>
                            </p:childTnLst>
                          </p:cTn>
                        </p:par>
                      </p:childTnLst>
                    </p:cTn>
                  </p:par>
                  <p:par>
                    <p:cTn id="8" fill="hold">
                      <p:stCondLst>
                        <p:cond delay="100"/>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20"/>
                                        <p:tgtEl>
                                          <p:spTgt spid="19"/>
                                        </p:tgtEl>
                                      </p:cBhvr>
                                    </p:animEffect>
                                  </p:childTnLst>
                                </p:cTn>
                              </p:par>
                            </p:childTnLst>
                          </p:cTn>
                        </p:par>
                      </p:childTnLst>
                    </p:cTn>
                  </p:par>
                  <p:par>
                    <p:cTn id="13" fill="hold">
                      <p:stCondLst>
                        <p:cond delay="14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320"/>
                                        <p:tgtEl>
                                          <p:spTgt spid="22"/>
                                        </p:tgtEl>
                                      </p:cBhvr>
                                    </p:animEffect>
                                  </p:childTnLst>
                                </p:cTn>
                              </p:par>
                            </p:childTnLst>
                          </p:cTn>
                        </p:par>
                      </p:childTnLst>
                    </p:cTn>
                  </p:par>
                  <p:par>
                    <p:cTn id="18" fill="hold">
                      <p:stCondLst>
                        <p:cond delay="180"/>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320"/>
                                        <p:tgtEl>
                                          <p:spTgt spid="25"/>
                                        </p:tgtEl>
                                      </p:cBhvr>
                                    </p:animEffect>
                                  </p:childTnLst>
                                </p:cTn>
                              </p:par>
                            </p:childTnLst>
                          </p:cTn>
                        </p:par>
                      </p:childTnLst>
                    </p:cTn>
                  </p:par>
                  <p:par>
                    <p:cTn id="23" fill="hold">
                      <p:stCondLst>
                        <p:cond delay="22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320"/>
                                        <p:tgtEl>
                                          <p:spTgt spid="28"/>
                                        </p:tgtEl>
                                      </p:cBhvr>
                                    </p:animEffect>
                                  </p:childTnLst>
                                </p:cTn>
                              </p:par>
                            </p:childTnLst>
                          </p:cTn>
                        </p:par>
                      </p:childTnLst>
                    </p:cTn>
                  </p:par>
                  <p:par>
                    <p:cTn id="28" fill="hold">
                      <p:stCondLst>
                        <p:cond delay="260"/>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320"/>
                                        <p:tgtEl>
                                          <p:spTgt spid="31"/>
                                        </p:tgtEl>
                                      </p:cBhvr>
                                    </p:animEffect>
                                  </p:childTnLst>
                                </p:cTn>
                              </p:par>
                            </p:childTnLst>
                          </p:cTn>
                        </p:par>
                      </p:childTnLst>
                    </p:cTn>
                  </p:par>
                  <p:par>
                    <p:cTn id="33" fill="hold">
                      <p:stCondLst>
                        <p:cond delay="30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20"/>
                                        <p:tgtEl>
                                          <p:spTgt spid="34"/>
                                        </p:tgtEl>
                                      </p:cBhvr>
                                    </p:animEffect>
                                  </p:childTnLst>
                                </p:cTn>
                              </p:par>
                            </p:childTnLst>
                          </p:cTn>
                        </p:par>
                      </p:childTnLst>
                    </p:cTn>
                  </p:par>
                  <p:par>
                    <p:cTn id="38" fill="hold">
                      <p:stCondLst>
                        <p:cond delay="34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320"/>
                                        <p:tgtEl>
                                          <p:spTgt spid="37"/>
                                        </p:tgtEl>
                                      </p:cBhvr>
                                    </p:animEffect>
                                  </p:childTnLst>
                                </p:cTn>
                              </p:par>
                            </p:childTnLst>
                          </p:cTn>
                        </p:par>
                      </p:childTnLst>
                    </p:cTn>
                  </p:par>
                  <p:par>
                    <p:cTn id="43" fill="hold">
                      <p:stCondLst>
                        <p:cond delay="38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320"/>
                                        <p:tgtEl>
                                          <p:spTgt spid="40"/>
                                        </p:tgtEl>
                                      </p:cBhvr>
                                    </p:animEffect>
                                  </p:childTnLst>
                                </p:cTn>
                              </p:par>
                            </p:childTnLst>
                          </p:cTn>
                        </p:par>
                      </p:childTnLst>
                    </p:cTn>
                  </p:par>
                  <p:par>
                    <p:cTn id="48" fill="hold">
                      <p:stCondLst>
                        <p:cond delay="420"/>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20"/>
                                        <p:tgtEl>
                                          <p:spTgt spid="43"/>
                                        </p:tgtEl>
                                      </p:cBhvr>
                                    </p:animEffect>
                                  </p:childTnLst>
                                </p:cTn>
                              </p:par>
                            </p:childTnLst>
                          </p:cTn>
                        </p:par>
                      </p:childTnLst>
                    </p:cTn>
                  </p:par>
                  <p:par>
                    <p:cTn id="53" fill="hold">
                      <p:stCondLst>
                        <p:cond delay="46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320"/>
                                        <p:tgtEl>
                                          <p:spTgt spid="46"/>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320"/>
                                        <p:tgtEl>
                                          <p:spTgt spid="49"/>
                                        </p:tgtEl>
                                      </p:cBhvr>
                                    </p:animEffect>
                                  </p:childTnLst>
                                </p:cTn>
                              </p:par>
                            </p:childTnLst>
                          </p:cTn>
                        </p:par>
                      </p:childTnLst>
                    </p:cTn>
                  </p:par>
                  <p:par>
                    <p:cTn id="63" fill="hold">
                      <p:stCondLst>
                        <p:cond delay="150"/>
                      </p:stCondLst>
                      <p:childTnLst>
                        <p:par>
                          <p:cTn id="64" fill="hold">
                            <p:stCondLst>
                              <p:cond delay="0"/>
                            </p:stCondLst>
                            <p:childTnLst>
                              <p:par>
                                <p:cTn id="65" presetID="22" presetClass="entr" presetSubtype="8" fill="hold" grpId="0" nodeType="after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wipe(right)">
                                      <p:cBhvr>
                                        <p:cTn id="67" dur="380"/>
                                        <p:tgtEl>
                                          <p:spTgt spid="53"/>
                                        </p:tgtEl>
                                      </p:cBhvr>
                                    </p:animEffect>
                                  </p:childTnLst>
                                </p:cTn>
                              </p:par>
                            </p:childTnLst>
                          </p:cTn>
                        </p:par>
                      </p:childTnLst>
                    </p:cTn>
                  </p:par>
                  <p:par>
                    <p:cTn id="68" fill="hold">
                      <p:stCondLst>
                        <p:cond delay="280"/>
                      </p:stCondLst>
                      <p:childTnLst>
                        <p:par>
                          <p:cTn id="69" fill="hold">
                            <p:stCondLst>
                              <p:cond delay="0"/>
                            </p:stCondLst>
                            <p:childTnLst>
                              <p:par>
                                <p:cTn id="70" presetID="22" presetClass="entr" presetSubtype="8" fill="hold" grpId="0" nodeType="after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wipe(right)">
                                      <p:cBhvr>
                                        <p:cTn id="72" dur="380"/>
                                        <p:tgtEl>
                                          <p:spTgt spid="54"/>
                                        </p:tgtEl>
                                      </p:cBhvr>
                                    </p:animEffect>
                                  </p:childTnLst>
                                </p:cTn>
                              </p:par>
                            </p:childTnLst>
                          </p:cTn>
                        </p:par>
                      </p:childTnLst>
                    </p:cTn>
                  </p:par>
                  <p:par>
                    <p:cTn id="73" fill="hold">
                      <p:stCondLst>
                        <p:cond delay="410"/>
                      </p:stCondLst>
                      <p:childTnLst>
                        <p:par>
                          <p:cTn id="74" fill="hold">
                            <p:stCondLst>
                              <p:cond delay="0"/>
                            </p:stCondLst>
                            <p:childTnLst>
                              <p:par>
                                <p:cTn id="75" presetID="22" presetClass="entr" presetSubtype="8" fill="hold" grpId="0" nodeType="after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wipe(right)">
                                      <p:cBhvr>
                                        <p:cTn id="77" dur="380"/>
                                        <p:tgtEl>
                                          <p:spTgt spid="55"/>
                                        </p:tgtEl>
                                      </p:cBhvr>
                                    </p:animEffect>
                                  </p:childTnLst>
                                </p:cTn>
                              </p:par>
                            </p:childTnLst>
                          </p:cTn>
                        </p:par>
                      </p:childTnLst>
                    </p:cTn>
                  </p:par>
                  <p:par>
                    <p:cTn id="78" fill="hold">
                      <p:stCondLst>
                        <p:cond delay="540"/>
                      </p:stCondLst>
                      <p:childTnLst>
                        <p:par>
                          <p:cTn id="79" fill="hold">
                            <p:stCondLst>
                              <p:cond delay="0"/>
                            </p:stCondLst>
                            <p:childTnLst>
                              <p:par>
                                <p:cTn id="80" presetID="22" presetClass="entr" presetSubtype="8" fill="hold" grpId="0" nodeType="after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right)">
                                      <p:cBhvr>
                                        <p:cTn id="82" dur="380"/>
                                        <p:tgtEl>
                                          <p:spTgt spid="56"/>
                                        </p:tgtEl>
                                      </p:cBhvr>
                                    </p:animEffect>
                                  </p:childTnLst>
                                </p:cTn>
                              </p:par>
                            </p:childTnLst>
                          </p:cTn>
                        </p:par>
                      </p:childTnLst>
                    </p:cTn>
                  </p:par>
                  <p:par>
                    <p:cTn id="83" fill="hold">
                      <p:stCondLst>
                        <p:cond delay="670"/>
                      </p:stCondLst>
                      <p:childTnLst>
                        <p:par>
                          <p:cTn id="84" fill="hold">
                            <p:stCondLst>
                              <p:cond delay="0"/>
                            </p:stCondLst>
                            <p:childTnLst>
                              <p:par>
                                <p:cTn id="85" presetID="22" presetClass="entr" presetSubtype="8" fill="hold" grpId="0" nodeType="afterEffect">
                                  <p:stCondLst>
                                    <p:cond delay="0"/>
                                  </p:stCondLst>
                                  <p:childTnLst>
                                    <p:set>
                                      <p:cBhvr>
                                        <p:cTn id="86" dur="1" fill="hold">
                                          <p:stCondLst>
                                            <p:cond delay="0"/>
                                          </p:stCondLst>
                                        </p:cTn>
                                        <p:tgtEl>
                                          <p:spTgt spid="57"/>
                                        </p:tgtEl>
                                        <p:attrNameLst>
                                          <p:attrName>style.visibility</p:attrName>
                                        </p:attrNameLst>
                                      </p:cBhvr>
                                      <p:to>
                                        <p:strVal val="visible"/>
                                      </p:to>
                                    </p:set>
                                    <p:animEffect transition="in" filter="wipe(right)">
                                      <p:cBhvr>
                                        <p:cTn id="87" dur="380"/>
                                        <p:tgtEl>
                                          <p:spTgt spid="57"/>
                                        </p:tgtEl>
                                      </p:cBhvr>
                                    </p:animEffect>
                                  </p:childTnLst>
                                </p:cTn>
                              </p:par>
                            </p:childTnLst>
                          </p:cTn>
                        </p:par>
                      </p:childTnLst>
                    </p:cTn>
                  </p:par>
                  <p:par>
                    <p:cTn id="88" fill="hold">
                      <p:stCondLst>
                        <p:cond delay="800"/>
                      </p:stCondLst>
                      <p:childTnLst>
                        <p:par>
                          <p:cTn id="89" fill="hold">
                            <p:stCondLst>
                              <p:cond delay="0"/>
                            </p:stCondLst>
                            <p:childTnLst>
                              <p:par>
                                <p:cTn id="90" presetID="22" presetClass="entr" presetSubtype="8" fill="hold" grpId="0" nodeType="after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wipe(right)">
                                      <p:cBhvr>
                                        <p:cTn id="92" dur="380"/>
                                        <p:tgtEl>
                                          <p:spTgt spid="58"/>
                                        </p:tgtEl>
                                      </p:cBhvr>
                                    </p:animEffect>
                                  </p:childTnLst>
                                </p:cTn>
                              </p:par>
                            </p:childTnLst>
                          </p:cTn>
                        </p:par>
                      </p:childTnLst>
                    </p:cTn>
                  </p:par>
                  <p:par>
                    <p:cTn id="93" fill="hold">
                      <p:stCondLst>
                        <p:cond delay="160"/>
                      </p:stCondLst>
                      <p:childTnLst>
                        <p:par>
                          <p:cTn id="94" fill="hold">
                            <p:stCondLst>
                              <p:cond delay="0"/>
                            </p:stCondLst>
                            <p:childTnLst>
                              <p:par>
                                <p:cTn id="95" presetID="10" presetClass="entr" presetSubtype="0" fill="hold" grpId="0" nodeType="afterEffect">
                                  <p:stCondLst>
                                    <p:cond delay="0"/>
                                  </p:stCondLst>
                                  <p:childTnLst>
                                    <p:set>
                                      <p:cBhvr>
                                        <p:cTn id="96" dur="1" fill="hold">
                                          <p:stCondLst>
                                            <p:cond delay="0"/>
                                          </p:stCondLst>
                                        </p:cTn>
                                        <p:tgtEl>
                                          <p:spTgt spid="59"/>
                                        </p:tgtEl>
                                        <p:attrNameLst>
                                          <p:attrName>style.visibility</p:attrName>
                                        </p:attrNameLst>
                                      </p:cBhvr>
                                      <p:to>
                                        <p:strVal val="visible"/>
                                      </p:to>
                                    </p:set>
                                    <p:anim calcmode="lin" valueType="num">
                                      <p:cBhvr additive="base">
                                        <p:cTn id="97" dur="420" fill="hold"/>
                                        <p:tgtEl>
                                          <p:spTgt spid="59"/>
                                        </p:tgtEl>
                                        <p:attrNameLst>
                                          <p:attrName>ppt_y</p:attrName>
                                        </p:attrNameLst>
                                      </p:cBhvr>
                                      <p:tavLst>
                                        <p:tav tm="0">
                                          <p:val>
                                            <p:strVal val="#ppt_y+.035"/>
                                          </p:val>
                                        </p:tav>
                                        <p:tav tm="100000">
                                          <p:val>
                                            <p:strVal val="#ppt_y"/>
                                          </p:val>
                                        </p:tav>
                                      </p:tavLst>
                                    </p:anim>
                                    <p:animEffect transition="in" filter="fade">
                                      <p:cBhvr>
                                        <p:cTn id="98" dur="420"/>
                                        <p:tgtEl>
                                          <p:spTgt spid="59"/>
                                        </p:tgtEl>
                                      </p:cBhvr>
                                    </p:animEffect>
                                  </p:childTnLst>
                                </p:cTn>
                              </p:par>
                            </p:childTnLst>
                          </p:cTn>
                        </p:par>
                      </p:childTnLst>
                    </p:cTn>
                  </p:par>
                  <p:par>
                    <p:cTn id="99" fill="hold">
                      <p:stCondLst>
                        <p:cond delay="270"/>
                      </p:stCondLst>
                      <p:childTnLst>
                        <p:par>
                          <p:cTn id="100"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62"/>
                                        </p:tgtEl>
                                        <p:attrNameLst>
                                          <p:attrName>style.visibility</p:attrName>
                                        </p:attrNameLst>
                                      </p:cBhvr>
                                      <p:to>
                                        <p:strVal val="visible"/>
                                      </p:to>
                                    </p:set>
                                    <p:anim calcmode="lin" valueType="num">
                                      <p:cBhvr additive="base">
                                        <p:cTn id="103" dur="420" fill="hold"/>
                                        <p:tgtEl>
                                          <p:spTgt spid="62"/>
                                        </p:tgtEl>
                                        <p:attrNameLst>
                                          <p:attrName>ppt_y</p:attrName>
                                        </p:attrNameLst>
                                      </p:cBhvr>
                                      <p:tavLst>
                                        <p:tav tm="0">
                                          <p:val>
                                            <p:strVal val="#ppt_y+.035"/>
                                          </p:val>
                                        </p:tav>
                                        <p:tav tm="100000">
                                          <p:val>
                                            <p:strVal val="#ppt_y"/>
                                          </p:val>
                                        </p:tav>
                                      </p:tavLst>
                                    </p:anim>
                                    <p:animEffect transition="in" filter="fade">
                                      <p:cBhvr>
                                        <p:cTn id="104" dur="420"/>
                                        <p:tgtEl>
                                          <p:spTgt spid="62"/>
                                        </p:tgtEl>
                                      </p:cBhvr>
                                    </p:animEffect>
                                  </p:childTnLst>
                                </p:cTn>
                              </p:par>
                            </p:childTnLst>
                          </p:cTn>
                        </p:par>
                      </p:childTnLst>
                    </p:cTn>
                  </p:par>
                  <p:par>
                    <p:cTn id="105" fill="hold">
                      <p:stCondLst>
                        <p:cond delay="380"/>
                      </p:stCondLst>
                      <p:childTnLst>
                        <p:par>
                          <p:cTn id="106" fill="hold">
                            <p:stCondLst>
                              <p:cond delay="0"/>
                            </p:stCondLst>
                            <p:childTnLst>
                              <p:par>
                                <p:cTn id="107" presetID="10" presetClass="entr" presetSubtype="0" fill="hold" grpId="0" nodeType="afterEffect">
                                  <p:stCondLst>
                                    <p:cond delay="0"/>
                                  </p:stCondLst>
                                  <p:childTnLst>
                                    <p:set>
                                      <p:cBhvr>
                                        <p:cTn id="108" dur="1" fill="hold">
                                          <p:stCondLst>
                                            <p:cond delay="0"/>
                                          </p:stCondLst>
                                        </p:cTn>
                                        <p:tgtEl>
                                          <p:spTgt spid="65"/>
                                        </p:tgtEl>
                                        <p:attrNameLst>
                                          <p:attrName>style.visibility</p:attrName>
                                        </p:attrNameLst>
                                      </p:cBhvr>
                                      <p:to>
                                        <p:strVal val="visible"/>
                                      </p:to>
                                    </p:set>
                                    <p:anim calcmode="lin" valueType="num">
                                      <p:cBhvr additive="base">
                                        <p:cTn id="109" dur="420" fill="hold"/>
                                        <p:tgtEl>
                                          <p:spTgt spid="65"/>
                                        </p:tgtEl>
                                        <p:attrNameLst>
                                          <p:attrName>ppt_y</p:attrName>
                                        </p:attrNameLst>
                                      </p:cBhvr>
                                      <p:tavLst>
                                        <p:tav tm="0">
                                          <p:val>
                                            <p:strVal val="#ppt_y+.035"/>
                                          </p:val>
                                        </p:tav>
                                        <p:tav tm="100000">
                                          <p:val>
                                            <p:strVal val="#ppt_y"/>
                                          </p:val>
                                        </p:tav>
                                      </p:tavLst>
                                    </p:anim>
                                    <p:animEffect transition="in" filter="fade">
                                      <p:cBhvr>
                                        <p:cTn id="110" dur="420"/>
                                        <p:tgtEl>
                                          <p:spTgt spid="65"/>
                                        </p:tgtEl>
                                      </p:cBhvr>
                                    </p:animEffect>
                                  </p:childTnLst>
                                </p:cTn>
                              </p:par>
                            </p:childTnLst>
                          </p:cTn>
                        </p:par>
                      </p:childTnLst>
                    </p:cTn>
                  </p:par>
                  <p:par>
                    <p:cTn id="111" fill="hold">
                      <p:stCondLst>
                        <p:cond delay="200"/>
                      </p:stCondLst>
                      <p:childTnLst>
                        <p:par>
                          <p:cTn id="112" fill="hold">
                            <p:stCondLst>
                              <p:cond delay="0"/>
                            </p:stCondLst>
                            <p:childTnLst>
                              <p:par>
                                <p:cTn id="113" presetID="23" presetClass="entr" presetSubtype="16" fill="hold" grpId="0" nodeType="afterEffect">
                                  <p:stCondLst>
                                    <p:cond delay="0"/>
                                  </p:stCondLst>
                                  <p:childTnLst>
                                    <p:set>
                                      <p:cBhvr>
                                        <p:cTn id="114" dur="1" fill="hold">
                                          <p:stCondLst>
                                            <p:cond delay="0"/>
                                          </p:stCondLst>
                                        </p:cTn>
                                        <p:tgtEl>
                                          <p:spTgt spid="69"/>
                                        </p:tgtEl>
                                        <p:attrNameLst>
                                          <p:attrName>style.visibility</p:attrName>
                                        </p:attrNameLst>
                                      </p:cBhvr>
                                      <p:to>
                                        <p:strVal val="visible"/>
                                      </p:to>
                                    </p:set>
                                    <p:animEffect transition="in" filter="fade">
                                      <p:cBhvr>
                                        <p:cTn id="115" dur="6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28" grpId="0" animBg="1"/>
      <p:bldP spid="31" grpId="0" animBg="1"/>
      <p:bldP spid="34" grpId="0" animBg="1"/>
      <p:bldP spid="37" grpId="0" animBg="1"/>
      <p:bldP spid="40" grpId="0" animBg="1"/>
      <p:bldP spid="43" grpId="0" animBg="1"/>
      <p:bldP spid="46" grpId="0" animBg="1"/>
      <p:bldP spid="49" grpId="0" animBg="1"/>
      <p:bldP spid="53" grpId="0" animBg="1"/>
      <p:bldP spid="54" grpId="0" animBg="1"/>
      <p:bldP spid="55" grpId="0" animBg="1"/>
      <p:bldP spid="56" grpId="0" animBg="1"/>
      <p:bldP spid="57" grpId="0" animBg="1"/>
      <p:bldP spid="58" grpId="0" animBg="1"/>
      <p:bldP spid="59" grpId="0" animBg="1"/>
      <p:bldP spid="62" grpId="0" animBg="1"/>
      <p:bldP spid="65" grpId="0" animBg="1"/>
      <p:bldP spid="6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7F8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191969" cy="68580"/>
          </a:xfrm>
          <a:prstGeom prst="rect">
            <a:avLst/>
          </a:prstGeom>
          <a:gradFill rotWithShape="1">
            <a:gsLst>
              <a:gs pos="0">
                <a:srgbClr val="D9A13C"/>
              </a:gs>
              <a:gs pos="100000">
                <a:srgbClr val="1E6B4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ectangle 3"/>
          <p:cNvSpPr/>
          <p:nvPr/>
        </p:nvSpPr>
        <p:spPr>
          <a:xfrm>
            <a:off x="0" y="6354165"/>
            <a:ext cx="12191969" cy="50383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384048" y="6354165"/>
            <a:ext cx="4572000" cy="503834"/>
          </a:xfrm>
          <a:prstGeom prst="rect">
            <a:avLst/>
          </a:prstGeom>
          <a:noFill/>
        </p:spPr>
        <p:txBody>
          <a:bodyPr wrap="square" lIns="0" tIns="0" rIns="0" bIns="0" anchor="ctr">
            <a:spAutoFit/>
          </a:bodyPr>
          <a:lstStyle/>
          <a:p>
            <a:pPr algn="l"/>
            <a:r>
              <a:rPr sz="950" b="1" i="0" u="none" spc="80">
                <a:solidFill>
                  <a:srgbClr val="FFFFFF"/>
                </a:solidFill>
                <a:latin typeface="Arial"/>
              </a:rPr>
              <a:t>VANASPATI  ·  Virtual Herbal Garden</a:t>
            </a:r>
          </a:p>
        </p:txBody>
      </p:sp>
      <p:sp>
        <p:nvSpPr>
          <p:cNvPr id="6" name="TextBox 5"/>
          <p:cNvSpPr txBox="1"/>
          <p:nvPr/>
        </p:nvSpPr>
        <p:spPr>
          <a:xfrm>
            <a:off x="4206240" y="6354165"/>
            <a:ext cx="3749039" cy="503834"/>
          </a:xfrm>
          <a:prstGeom prst="rect">
            <a:avLst/>
          </a:prstGeom>
          <a:noFill/>
        </p:spPr>
        <p:txBody>
          <a:bodyPr wrap="square" lIns="0" tIns="0" rIns="0" bIns="0" anchor="ctr">
            <a:spAutoFit/>
          </a:bodyPr>
          <a:lstStyle/>
          <a:p>
            <a:pPr algn="ctr"/>
            <a:r>
              <a:rPr sz="950" b="0" i="0" u="none">
                <a:solidFill>
                  <a:srgbClr val="FFFFFF"/>
                </a:solidFill>
                <a:latin typeface="Arial"/>
              </a:rPr>
              <a:t>@SIH Idea submission- Template</a:t>
            </a:r>
          </a:p>
        </p:txBody>
      </p:sp>
      <p:sp>
        <p:nvSpPr>
          <p:cNvPr id="7" name="TextBox 6"/>
          <p:cNvSpPr txBox="1"/>
          <p:nvPr/>
        </p:nvSpPr>
        <p:spPr>
          <a:xfrm>
            <a:off x="10424160" y="6354165"/>
            <a:ext cx="1280160" cy="503834"/>
          </a:xfrm>
          <a:prstGeom prst="rect">
            <a:avLst/>
          </a:prstGeom>
          <a:noFill/>
        </p:spPr>
        <p:txBody>
          <a:bodyPr wrap="square" lIns="0" tIns="0" rIns="0" bIns="0" anchor="ctr">
            <a:spAutoFit/>
          </a:bodyPr>
          <a:lstStyle/>
          <a:p>
            <a:pPr algn="r"/>
            <a:r>
              <a:rPr sz="1100" b="1" i="0" u="none">
                <a:solidFill>
                  <a:srgbClr val="FFFFFF"/>
                </a:solidFill>
                <a:latin typeface="Arial"/>
              </a:rPr>
              <a:t>4</a:t>
            </a:r>
          </a:p>
        </p:txBody>
      </p:sp>
      <p:pic>
        <p:nvPicPr>
          <p:cNvPr id="8" name="Picture 7" descr="image2.png"/>
          <p:cNvPicPr>
            <a:picLocks noChangeAspect="1"/>
          </p:cNvPicPr>
          <p:nvPr/>
        </p:nvPicPr>
        <p:blipFill>
          <a:blip r:embed="rId3"/>
          <a:stretch>
            <a:fillRect/>
          </a:stretch>
        </p:blipFill>
        <p:spPr>
          <a:xfrm>
            <a:off x="10113264" y="182880"/>
            <a:ext cx="1572768" cy="799185"/>
          </a:xfrm>
          <a:prstGeom prst="rect">
            <a:avLst/>
          </a:prstGeom>
        </p:spPr>
      </p:pic>
      <p:sp>
        <p:nvSpPr>
          <p:cNvPr id="9" name="TEAM LOGO PLACEHOLDER"/>
          <p:cNvSpPr/>
          <p:nvPr/>
        </p:nvSpPr>
        <p:spPr>
          <a:xfrm>
            <a:off x="475488" y="201168"/>
            <a:ext cx="877824" cy="576072"/>
          </a:xfrm>
          <a:prstGeom prst="ellipse">
            <a:avLst/>
          </a:prstGeom>
          <a:no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u="none" spc="60">
                <a:solidFill>
                  <a:srgbClr val="7FB06D"/>
                </a:solidFill>
                <a:latin typeface="Arial"/>
              </a:rPr>
              <a:t>TEAM
LOGO</a:t>
            </a:r>
          </a:p>
        </p:txBody>
      </p:sp>
      <p:pic>
        <p:nvPicPr>
          <p:cNvPr id="10" name="Picture 9" descr="leaf_giloy_ghost.png"/>
          <p:cNvPicPr>
            <a:picLocks noChangeAspect="1"/>
          </p:cNvPicPr>
          <p:nvPr/>
        </p:nvPicPr>
        <p:blipFill>
          <a:blip r:embed="rId4"/>
          <a:stretch>
            <a:fillRect/>
          </a:stretch>
        </p:blipFill>
        <p:spPr>
          <a:xfrm rot="20820000">
            <a:off x="9229813" y="91440"/>
            <a:ext cx="700571" cy="731520"/>
          </a:xfrm>
          <a:prstGeom prst="rect">
            <a:avLst/>
          </a:prstGeom>
        </p:spPr>
      </p:pic>
      <p:sp>
        <p:nvSpPr>
          <p:cNvPr id="11" name="TextBox 10"/>
          <p:cNvSpPr txBox="1"/>
          <p:nvPr/>
        </p:nvSpPr>
        <p:spPr>
          <a:xfrm>
            <a:off x="1481328" y="173736"/>
            <a:ext cx="7863840" cy="475488"/>
          </a:xfrm>
          <a:prstGeom prst="rect">
            <a:avLst/>
          </a:prstGeom>
          <a:noFill/>
        </p:spPr>
        <p:txBody>
          <a:bodyPr wrap="square" lIns="0" tIns="0" rIns="0" bIns="0" anchor="t">
            <a:spAutoFit/>
          </a:bodyPr>
          <a:lstStyle/>
          <a:p>
            <a:pPr algn="l"/>
            <a:r>
              <a:rPr sz="2700" b="1" i="0" u="none" spc="60" dirty="0">
                <a:solidFill>
                  <a:srgbClr val="12261C"/>
                </a:solidFill>
                <a:latin typeface="Times New Roman"/>
              </a:rPr>
              <a:t>FEASIBILITY AND VIABILITY</a:t>
            </a:r>
          </a:p>
        </p:txBody>
      </p:sp>
      <p:sp>
        <p:nvSpPr>
          <p:cNvPr id="12" name="TextBox 11"/>
          <p:cNvSpPr txBox="1"/>
          <p:nvPr/>
        </p:nvSpPr>
        <p:spPr>
          <a:xfrm>
            <a:off x="1481328" y="658368"/>
            <a:ext cx="7498079" cy="237744"/>
          </a:xfrm>
          <a:prstGeom prst="rect">
            <a:avLst/>
          </a:prstGeom>
          <a:noFill/>
        </p:spPr>
        <p:txBody>
          <a:bodyPr wrap="square" lIns="0" tIns="0" rIns="0" bIns="0" anchor="t">
            <a:spAutoFit/>
          </a:bodyPr>
          <a:lstStyle/>
          <a:p>
            <a:pPr algn="l"/>
            <a:r>
              <a:rPr sz="1000" b="0" i="1" u="none">
                <a:solidFill>
                  <a:srgbClr val="5B6B60"/>
                </a:solidFill>
                <a:latin typeface="Arial"/>
              </a:rPr>
              <a:t>Built already, and built to survive a low-end phone</a:t>
            </a:r>
          </a:p>
        </p:txBody>
      </p:sp>
      <p:sp>
        <p:nvSpPr>
          <p:cNvPr id="13" name="Rectangle 12"/>
          <p:cNvSpPr/>
          <p:nvPr/>
        </p:nvSpPr>
        <p:spPr>
          <a:xfrm>
            <a:off x="1481328" y="918971"/>
            <a:ext cx="10232136" cy="10972"/>
          </a:xfrm>
          <a:prstGeom prst="rect">
            <a:avLst/>
          </a:prstGeom>
          <a:solidFill>
            <a:srgbClr val="DDE3D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1481328" y="914400"/>
            <a:ext cx="1417320" cy="29260"/>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75488" y="1060704"/>
            <a:ext cx="5486400" cy="219456"/>
          </a:xfrm>
          <a:prstGeom prst="rect">
            <a:avLst/>
          </a:prstGeom>
          <a:noFill/>
        </p:spPr>
        <p:txBody>
          <a:bodyPr wrap="square" lIns="0" tIns="0" rIns="0" bIns="0" anchor="t">
            <a:spAutoFit/>
          </a:bodyPr>
          <a:lstStyle/>
          <a:p>
            <a:pPr algn="l"/>
            <a:r>
              <a:rPr sz="1000" b="1" i="0" u="sng">
                <a:solidFill>
                  <a:srgbClr val="1F497D"/>
                </a:solidFill>
                <a:latin typeface="Arial"/>
              </a:rPr>
              <a:t>Analysis of the feasibility of the idea</a:t>
            </a:r>
          </a:p>
        </p:txBody>
      </p:sp>
      <p:sp>
        <p:nvSpPr>
          <p:cNvPr id="16" name="Rounded Rectangle 15"/>
          <p:cNvSpPr/>
          <p:nvPr/>
        </p:nvSpPr>
        <p:spPr>
          <a:xfrm>
            <a:off x="475488" y="1335024"/>
            <a:ext cx="2672334" cy="1133856"/>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475488" y="1335024"/>
            <a:ext cx="2672334" cy="50292"/>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694944" y="1335024"/>
            <a:ext cx="2233422" cy="1133856"/>
          </a:xfrm>
          <a:prstGeom prst="rect">
            <a:avLst/>
          </a:prstGeom>
          <a:noFill/>
        </p:spPr>
        <p:txBody>
          <a:bodyPr wrap="square" lIns="0" tIns="0" rIns="0" bIns="0" anchor="ctr">
            <a:spAutoFit/>
          </a:bodyPr>
          <a:lstStyle/>
          <a:p>
            <a:pPr algn="l">
              <a:lnSpc>
                <a:spcPct val="102000"/>
              </a:lnSpc>
            </a:pPr>
            <a:r>
              <a:rPr sz="1100" b="1" i="0" u="none">
                <a:solidFill>
                  <a:srgbClr val="12261C"/>
                </a:solidFill>
                <a:latin typeface="Arial"/>
              </a:rPr>
              <a:t>Working build, not a mock-up</a:t>
            </a:r>
          </a:p>
          <a:p>
            <a:pPr algn="l">
              <a:lnSpc>
                <a:spcPct val="102000"/>
              </a:lnSpc>
              <a:spcBef>
                <a:spcPts val="500"/>
              </a:spcBef>
            </a:pPr>
            <a:r>
              <a:rPr sz="900" b="0" i="0" u="none">
                <a:solidFill>
                  <a:srgbClr val="5B6B60"/>
                </a:solidFill>
                <a:latin typeface="Arial"/>
              </a:rPr>
              <a:t>25 species live today across ~9,700 lines of TypeScript</a:t>
            </a:r>
          </a:p>
        </p:txBody>
      </p:sp>
      <p:sp>
        <p:nvSpPr>
          <p:cNvPr id="19" name="Rounded Rectangle 18"/>
          <p:cNvSpPr/>
          <p:nvPr/>
        </p:nvSpPr>
        <p:spPr>
          <a:xfrm>
            <a:off x="3330702" y="1335024"/>
            <a:ext cx="2672334" cy="1133856"/>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ectangle 19"/>
          <p:cNvSpPr/>
          <p:nvPr/>
        </p:nvSpPr>
        <p:spPr>
          <a:xfrm>
            <a:off x="3330702" y="1335024"/>
            <a:ext cx="2672334" cy="50292"/>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3550158" y="1335024"/>
            <a:ext cx="2233422" cy="1133856"/>
          </a:xfrm>
          <a:prstGeom prst="rect">
            <a:avLst/>
          </a:prstGeom>
          <a:noFill/>
        </p:spPr>
        <p:txBody>
          <a:bodyPr wrap="square" lIns="0" tIns="0" rIns="0" bIns="0" anchor="ctr">
            <a:spAutoFit/>
          </a:bodyPr>
          <a:lstStyle/>
          <a:p>
            <a:pPr algn="l">
              <a:lnSpc>
                <a:spcPct val="102000"/>
              </a:lnSpc>
            </a:pPr>
            <a:r>
              <a:rPr sz="1100" b="1" i="0" u="none">
                <a:solidFill>
                  <a:srgbClr val="12261C"/>
                </a:solidFill>
                <a:latin typeface="Arial"/>
              </a:rPr>
              <a:t>No backend, no asset pipeline</a:t>
            </a:r>
          </a:p>
          <a:p>
            <a:pPr algn="l">
              <a:lnSpc>
                <a:spcPct val="102000"/>
              </a:lnSpc>
              <a:spcBef>
                <a:spcPts val="500"/>
              </a:spcBef>
            </a:pPr>
            <a:r>
              <a:rPr sz="900" b="0" i="0" u="none">
                <a:solidFill>
                  <a:srgbClr val="5B6B60"/>
                </a:solidFill>
                <a:latin typeface="Arial"/>
              </a:rPr>
              <a:t>deploys to any static host; SPA routes survive a hard refresh</a:t>
            </a:r>
          </a:p>
        </p:txBody>
      </p:sp>
      <p:sp>
        <p:nvSpPr>
          <p:cNvPr id="22" name="Rounded Rectangle 21"/>
          <p:cNvSpPr/>
          <p:nvPr/>
        </p:nvSpPr>
        <p:spPr>
          <a:xfrm>
            <a:off x="6185916" y="1335024"/>
            <a:ext cx="2672334" cy="1133856"/>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6185916" y="1335024"/>
            <a:ext cx="2672334" cy="50292"/>
          </a:xfrm>
          <a:prstGeom prst="rect">
            <a:avLst/>
          </a:prstGeom>
          <a:solidFill>
            <a:srgbClr val="B95A7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6405372" y="1335024"/>
            <a:ext cx="2233422" cy="1133856"/>
          </a:xfrm>
          <a:prstGeom prst="rect">
            <a:avLst/>
          </a:prstGeom>
          <a:noFill/>
        </p:spPr>
        <p:txBody>
          <a:bodyPr wrap="square" lIns="0" tIns="0" rIns="0" bIns="0" anchor="ctr">
            <a:spAutoFit/>
          </a:bodyPr>
          <a:lstStyle/>
          <a:p>
            <a:pPr algn="l">
              <a:lnSpc>
                <a:spcPct val="102000"/>
              </a:lnSpc>
            </a:pPr>
            <a:r>
              <a:rPr sz="1100" b="1" i="0" u="none">
                <a:solidFill>
                  <a:srgbClr val="12261C"/>
                </a:solidFill>
                <a:latin typeface="Arial"/>
              </a:rPr>
              <a:t>Runs on a 4-core phone</a:t>
            </a:r>
          </a:p>
          <a:p>
            <a:pPr algn="l">
              <a:lnSpc>
                <a:spcPct val="102000"/>
              </a:lnSpc>
              <a:spcBef>
                <a:spcPts val="500"/>
              </a:spcBef>
            </a:pPr>
            <a:r>
              <a:rPr sz="900" b="0" i="0" u="none">
                <a:solidFill>
                  <a:srgbClr val="5B6B60"/>
                </a:solidFill>
                <a:latin typeface="Arial"/>
              </a:rPr>
              <a:t>quality auto-detected, leaf budget keeps geometry in bounds</a:t>
            </a:r>
          </a:p>
        </p:txBody>
      </p:sp>
      <p:sp>
        <p:nvSpPr>
          <p:cNvPr id="25" name="Rounded Rectangle 24"/>
          <p:cNvSpPr/>
          <p:nvPr/>
        </p:nvSpPr>
        <p:spPr>
          <a:xfrm>
            <a:off x="9041130" y="1335024"/>
            <a:ext cx="2672334" cy="1133856"/>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9041130" y="1335024"/>
            <a:ext cx="2672334" cy="50292"/>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9260586" y="1335024"/>
            <a:ext cx="2233422" cy="1133856"/>
          </a:xfrm>
          <a:prstGeom prst="rect">
            <a:avLst/>
          </a:prstGeom>
          <a:noFill/>
        </p:spPr>
        <p:txBody>
          <a:bodyPr wrap="square" lIns="0" tIns="0" rIns="0" bIns="0" anchor="ctr">
            <a:spAutoFit/>
          </a:bodyPr>
          <a:lstStyle/>
          <a:p>
            <a:pPr algn="l">
              <a:lnSpc>
                <a:spcPct val="102000"/>
              </a:lnSpc>
            </a:pPr>
            <a:r>
              <a:rPr sz="1100" b="1" i="0" u="none">
                <a:solidFill>
                  <a:srgbClr val="12261C"/>
                </a:solidFill>
                <a:latin typeface="Arial"/>
              </a:rPr>
              <a:t>Offline after first load</a:t>
            </a:r>
          </a:p>
          <a:p>
            <a:pPr algn="l">
              <a:lnSpc>
                <a:spcPct val="102000"/>
              </a:lnSpc>
              <a:spcBef>
                <a:spcPts val="500"/>
              </a:spcBef>
            </a:pPr>
            <a:r>
              <a:rPr sz="900" b="0" i="0" u="none">
                <a:solidFill>
                  <a:srgbClr val="5B6B60"/>
                </a:solidFill>
                <a:latin typeface="Arial"/>
              </a:rPr>
              <a:t>no network calls; narration comes from the browser</a:t>
            </a:r>
          </a:p>
        </p:txBody>
      </p:sp>
      <p:sp>
        <p:nvSpPr>
          <p:cNvPr id="28" name="TextBox 27"/>
          <p:cNvSpPr txBox="1"/>
          <p:nvPr/>
        </p:nvSpPr>
        <p:spPr>
          <a:xfrm>
            <a:off x="475488" y="2670048"/>
            <a:ext cx="5120640" cy="219456"/>
          </a:xfrm>
          <a:prstGeom prst="rect">
            <a:avLst/>
          </a:prstGeom>
          <a:noFill/>
        </p:spPr>
        <p:txBody>
          <a:bodyPr wrap="square" lIns="0" tIns="0" rIns="0" bIns="0" anchor="t">
            <a:spAutoFit/>
          </a:bodyPr>
          <a:lstStyle/>
          <a:p>
            <a:pPr algn="l"/>
            <a:r>
              <a:rPr sz="1000" b="1" i="0" u="sng">
                <a:solidFill>
                  <a:srgbClr val="1F497D"/>
                </a:solidFill>
                <a:latin typeface="Arial"/>
              </a:rPr>
              <a:t>Potential challenges and risks</a:t>
            </a:r>
          </a:p>
        </p:txBody>
      </p:sp>
      <p:sp>
        <p:nvSpPr>
          <p:cNvPr id="29" name="TextBox 28"/>
          <p:cNvSpPr txBox="1"/>
          <p:nvPr/>
        </p:nvSpPr>
        <p:spPr>
          <a:xfrm>
            <a:off x="6272784" y="2670048"/>
            <a:ext cx="5486400" cy="219456"/>
          </a:xfrm>
          <a:prstGeom prst="rect">
            <a:avLst/>
          </a:prstGeom>
          <a:noFill/>
        </p:spPr>
        <p:txBody>
          <a:bodyPr wrap="square" lIns="0" tIns="0" rIns="0" bIns="0" anchor="t">
            <a:spAutoFit/>
          </a:bodyPr>
          <a:lstStyle/>
          <a:p>
            <a:pPr algn="l"/>
            <a:r>
              <a:rPr sz="1000" b="1" i="0" u="sng">
                <a:solidFill>
                  <a:srgbClr val="1F497D"/>
                </a:solidFill>
                <a:latin typeface="Arial"/>
              </a:rPr>
              <a:t>Strategies for overcoming these challenges</a:t>
            </a:r>
          </a:p>
        </p:txBody>
      </p:sp>
      <p:sp>
        <p:nvSpPr>
          <p:cNvPr id="30" name="Rounded Rectangle 29"/>
          <p:cNvSpPr/>
          <p:nvPr/>
        </p:nvSpPr>
        <p:spPr>
          <a:xfrm>
            <a:off x="475488" y="2962656"/>
            <a:ext cx="5230368" cy="548640"/>
          </a:xfrm>
          <a:prstGeom prst="roundRect">
            <a:avLst>
              <a:gd name="adj" fmla="val 12000"/>
            </a:avLst>
          </a:prstGeom>
          <a:solidFill>
            <a:srgbClr val="FBF6EE"/>
          </a:solidFill>
          <a:ln w="9525">
            <a:solidFill>
              <a:srgbClr val="E8DC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Oval 30"/>
          <p:cNvSpPr/>
          <p:nvPr/>
        </p:nvSpPr>
        <p:spPr>
          <a:xfrm>
            <a:off x="640080" y="3186684"/>
            <a:ext cx="100584" cy="100584"/>
          </a:xfrm>
          <a:prstGeom prst="ellipse">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859536" y="2962656"/>
            <a:ext cx="4709160" cy="548640"/>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Low-end GPUs and thermal throttling</a:t>
            </a:r>
          </a:p>
        </p:txBody>
      </p:sp>
      <p:sp>
        <p:nvSpPr>
          <p:cNvPr id="33" name="Right Arrow 32"/>
          <p:cNvSpPr/>
          <p:nvPr/>
        </p:nvSpPr>
        <p:spPr>
          <a:xfrm>
            <a:off x="5833872" y="3136392"/>
            <a:ext cx="310896" cy="201168"/>
          </a:xfrm>
          <a:prstGeom prst="rightArrow">
            <a:avLst/>
          </a:prstGeom>
          <a:solidFill>
            <a:srgbClr val="7FB0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6272784" y="2962656"/>
            <a:ext cx="5440680" cy="548640"/>
          </a:xfrm>
          <a:prstGeom prst="roundRect">
            <a:avLst>
              <a:gd name="adj" fmla="val 12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6272784" y="3044952"/>
            <a:ext cx="41148" cy="384048"/>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6473952" y="2962656"/>
            <a:ext cx="5120640" cy="548640"/>
          </a:xfrm>
          <a:prstGeom prst="rect">
            <a:avLst/>
          </a:prstGeom>
          <a:noFill/>
        </p:spPr>
        <p:txBody>
          <a:bodyPr wrap="square" lIns="0" tIns="0" rIns="0" bIns="0" anchor="ctr">
            <a:spAutoFit/>
          </a:bodyPr>
          <a:lstStyle/>
          <a:p>
            <a:pPr algn="l">
              <a:lnSpc>
                <a:spcPct val="100000"/>
              </a:lnSpc>
            </a:pPr>
            <a:r>
              <a:rPr sz="950" b="0" i="0" u="none">
                <a:solidFill>
                  <a:srgbClr val="37463D"/>
                </a:solidFill>
                <a:latin typeface="Arial"/>
              </a:rPr>
              <a:t>Leaf budget + axis census, three quality presets, capped pixel ratio, instanced planting</a:t>
            </a:r>
          </a:p>
        </p:txBody>
      </p:sp>
      <p:sp>
        <p:nvSpPr>
          <p:cNvPr id="37" name="Rounded Rectangle 36"/>
          <p:cNvSpPr/>
          <p:nvPr/>
        </p:nvSpPr>
        <p:spPr>
          <a:xfrm>
            <a:off x="475488" y="3566160"/>
            <a:ext cx="5230368" cy="548640"/>
          </a:xfrm>
          <a:prstGeom prst="roundRect">
            <a:avLst>
              <a:gd name="adj" fmla="val 12000"/>
            </a:avLst>
          </a:prstGeom>
          <a:solidFill>
            <a:srgbClr val="FBF6EE"/>
          </a:solidFill>
          <a:ln w="9525">
            <a:solidFill>
              <a:srgbClr val="E8DC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Oval 37"/>
          <p:cNvSpPr/>
          <p:nvPr/>
        </p:nvSpPr>
        <p:spPr>
          <a:xfrm>
            <a:off x="640080" y="3790188"/>
            <a:ext cx="100584" cy="100584"/>
          </a:xfrm>
          <a:prstGeom prst="ellipse">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859536" y="3566160"/>
            <a:ext cx="4709160" cy="548640"/>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Botanical and clinical accuracy</a:t>
            </a:r>
          </a:p>
        </p:txBody>
      </p:sp>
      <p:sp>
        <p:nvSpPr>
          <p:cNvPr id="40" name="Right Arrow 39"/>
          <p:cNvSpPr/>
          <p:nvPr/>
        </p:nvSpPr>
        <p:spPr>
          <a:xfrm>
            <a:off x="5833872" y="3739896"/>
            <a:ext cx="310896" cy="201168"/>
          </a:xfrm>
          <a:prstGeom prst="rightArrow">
            <a:avLst/>
          </a:prstGeom>
          <a:solidFill>
            <a:srgbClr val="7FB0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6272784" y="3566160"/>
            <a:ext cx="5440680" cy="548640"/>
          </a:xfrm>
          <a:prstGeom prst="roundRect">
            <a:avLst>
              <a:gd name="adj" fmla="val 12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6272784" y="3648456"/>
            <a:ext cx="41148" cy="384048"/>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6473952" y="3566160"/>
            <a:ext cx="5120640" cy="548640"/>
          </a:xfrm>
          <a:prstGeom prst="rect">
            <a:avLst/>
          </a:prstGeom>
          <a:noFill/>
        </p:spPr>
        <p:txBody>
          <a:bodyPr wrap="square" lIns="0" tIns="0" rIns="0" bIns="0" anchor="ctr">
            <a:spAutoFit/>
          </a:bodyPr>
          <a:lstStyle/>
          <a:p>
            <a:pPr algn="l">
              <a:lnSpc>
                <a:spcPct val="100000"/>
              </a:lnSpc>
            </a:pPr>
            <a:r>
              <a:rPr sz="950" b="0" i="0" u="none">
                <a:solidFill>
                  <a:srgbClr val="37463D"/>
                </a:solidFill>
                <a:latin typeface="Arial"/>
              </a:rPr>
              <a:t>Ayurvedic Pharmacopoeia conventions, IUCN statuses, per-plant precautions, "not medical advice"</a:t>
            </a:r>
          </a:p>
        </p:txBody>
      </p:sp>
      <p:sp>
        <p:nvSpPr>
          <p:cNvPr id="44" name="Rounded Rectangle 43"/>
          <p:cNvSpPr/>
          <p:nvPr/>
        </p:nvSpPr>
        <p:spPr>
          <a:xfrm>
            <a:off x="475488" y="4169664"/>
            <a:ext cx="5230368" cy="548640"/>
          </a:xfrm>
          <a:prstGeom prst="roundRect">
            <a:avLst>
              <a:gd name="adj" fmla="val 12000"/>
            </a:avLst>
          </a:prstGeom>
          <a:solidFill>
            <a:srgbClr val="FBF6EE"/>
          </a:solidFill>
          <a:ln w="9525">
            <a:solidFill>
              <a:srgbClr val="E8DC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Oval 44"/>
          <p:cNvSpPr/>
          <p:nvPr/>
        </p:nvSpPr>
        <p:spPr>
          <a:xfrm>
            <a:off x="640080" y="4393692"/>
            <a:ext cx="100584" cy="100584"/>
          </a:xfrm>
          <a:prstGeom prst="ellipse">
            <a:avLst/>
          </a:prstGeom>
          <a:solidFill>
            <a:srgbClr val="C974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859536" y="4169664"/>
            <a:ext cx="4709160" cy="548640"/>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Speech voices vary between browsers</a:t>
            </a:r>
          </a:p>
        </p:txBody>
      </p:sp>
      <p:sp>
        <p:nvSpPr>
          <p:cNvPr id="47" name="Right Arrow 46"/>
          <p:cNvSpPr/>
          <p:nvPr/>
        </p:nvSpPr>
        <p:spPr>
          <a:xfrm>
            <a:off x="5833872" y="4343400"/>
            <a:ext cx="310896" cy="201168"/>
          </a:xfrm>
          <a:prstGeom prst="rightArrow">
            <a:avLst/>
          </a:prstGeom>
          <a:solidFill>
            <a:srgbClr val="7FB0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Rounded Rectangle 47"/>
          <p:cNvSpPr/>
          <p:nvPr/>
        </p:nvSpPr>
        <p:spPr>
          <a:xfrm>
            <a:off x="6272784" y="4169664"/>
            <a:ext cx="5440680" cy="548640"/>
          </a:xfrm>
          <a:prstGeom prst="roundRect">
            <a:avLst>
              <a:gd name="adj" fmla="val 12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Rectangle 48"/>
          <p:cNvSpPr/>
          <p:nvPr/>
        </p:nvSpPr>
        <p:spPr>
          <a:xfrm>
            <a:off x="6272784" y="4251960"/>
            <a:ext cx="41148" cy="384048"/>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6473952" y="4169664"/>
            <a:ext cx="5120640" cy="548640"/>
          </a:xfrm>
          <a:prstGeom prst="rect">
            <a:avLst/>
          </a:prstGeom>
          <a:noFill/>
        </p:spPr>
        <p:txBody>
          <a:bodyPr wrap="square" lIns="0" tIns="0" rIns="0" bIns="0" anchor="ctr">
            <a:spAutoFit/>
          </a:bodyPr>
          <a:lstStyle/>
          <a:p>
            <a:pPr algn="l">
              <a:lnSpc>
                <a:spcPct val="100000"/>
              </a:lnSpc>
            </a:pPr>
            <a:r>
              <a:rPr sz="950" b="0" i="0" u="none">
                <a:solidFill>
                  <a:srgbClr val="37463D"/>
                </a:solidFill>
                <a:latin typeface="Arial"/>
              </a:rPr>
              <a:t>The narration control disables itself rather than failing silently</a:t>
            </a:r>
          </a:p>
        </p:txBody>
      </p:sp>
      <p:sp>
        <p:nvSpPr>
          <p:cNvPr id="51" name="Rounded Rectangle 50"/>
          <p:cNvSpPr/>
          <p:nvPr/>
        </p:nvSpPr>
        <p:spPr>
          <a:xfrm>
            <a:off x="475488" y="4773168"/>
            <a:ext cx="5230368" cy="548640"/>
          </a:xfrm>
          <a:prstGeom prst="roundRect">
            <a:avLst>
              <a:gd name="adj" fmla="val 12000"/>
            </a:avLst>
          </a:prstGeom>
          <a:solidFill>
            <a:srgbClr val="FBF6EE"/>
          </a:solidFill>
          <a:ln w="9525">
            <a:solidFill>
              <a:srgbClr val="E8DC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Oval 51"/>
          <p:cNvSpPr/>
          <p:nvPr/>
        </p:nvSpPr>
        <p:spPr>
          <a:xfrm>
            <a:off x="640080" y="4997196"/>
            <a:ext cx="100584" cy="100584"/>
          </a:xfrm>
          <a:prstGeom prst="ellipse">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859536" y="4773168"/>
            <a:ext cx="4709160" cy="548640"/>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Expectation of photoreal plants</a:t>
            </a:r>
          </a:p>
        </p:txBody>
      </p:sp>
      <p:sp>
        <p:nvSpPr>
          <p:cNvPr id="54" name="Right Arrow 53"/>
          <p:cNvSpPr/>
          <p:nvPr/>
        </p:nvSpPr>
        <p:spPr>
          <a:xfrm>
            <a:off x="5833872" y="4946904"/>
            <a:ext cx="310896" cy="201168"/>
          </a:xfrm>
          <a:prstGeom prst="rightArrow">
            <a:avLst/>
          </a:prstGeom>
          <a:solidFill>
            <a:srgbClr val="7FB0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ounded Rectangle 54"/>
          <p:cNvSpPr/>
          <p:nvPr/>
        </p:nvSpPr>
        <p:spPr>
          <a:xfrm>
            <a:off x="6272784" y="4773168"/>
            <a:ext cx="5440680" cy="548640"/>
          </a:xfrm>
          <a:prstGeom prst="roundRect">
            <a:avLst>
              <a:gd name="adj" fmla="val 12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ectangle 55"/>
          <p:cNvSpPr/>
          <p:nvPr/>
        </p:nvSpPr>
        <p:spPr>
          <a:xfrm>
            <a:off x="6272784" y="4855464"/>
            <a:ext cx="41148" cy="384048"/>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6473952" y="4773168"/>
            <a:ext cx="5120640" cy="548640"/>
          </a:xfrm>
          <a:prstGeom prst="rect">
            <a:avLst/>
          </a:prstGeom>
          <a:noFill/>
        </p:spPr>
        <p:txBody>
          <a:bodyPr wrap="square" lIns="0" tIns="0" rIns="0" bIns="0" anchor="ctr">
            <a:spAutoFit/>
          </a:bodyPr>
          <a:lstStyle/>
          <a:p>
            <a:pPr algn="l">
              <a:lnSpc>
                <a:spcPct val="100000"/>
              </a:lnSpc>
            </a:pPr>
            <a:r>
              <a:rPr sz="950" b="0" i="0" u="none">
                <a:solidFill>
                  <a:srgbClr val="37463D"/>
                </a:solidFill>
                <a:latin typeface="Arial"/>
              </a:rPr>
              <a:t>A deliberate trade — a stylised plant that is correct teaches better than a pretty one that is not</a:t>
            </a:r>
          </a:p>
        </p:txBody>
      </p:sp>
      <p:sp>
        <p:nvSpPr>
          <p:cNvPr id="58" name="Rounded Rectangle 57"/>
          <p:cNvSpPr/>
          <p:nvPr/>
        </p:nvSpPr>
        <p:spPr>
          <a:xfrm>
            <a:off x="475488" y="5376672"/>
            <a:ext cx="5230368" cy="548640"/>
          </a:xfrm>
          <a:prstGeom prst="roundRect">
            <a:avLst>
              <a:gd name="adj" fmla="val 12000"/>
            </a:avLst>
          </a:prstGeom>
          <a:solidFill>
            <a:srgbClr val="FBF6EE"/>
          </a:solidFill>
          <a:ln w="9525">
            <a:solidFill>
              <a:srgbClr val="E8DC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Oval 58"/>
          <p:cNvSpPr/>
          <p:nvPr/>
        </p:nvSpPr>
        <p:spPr>
          <a:xfrm>
            <a:off x="640080" y="5600700"/>
            <a:ext cx="100584" cy="100584"/>
          </a:xfrm>
          <a:prstGeom prst="ellipse">
            <a:avLst/>
          </a:prstGeom>
          <a:solidFill>
            <a:srgbClr val="7C72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859536" y="5376672"/>
            <a:ext cx="4709160" cy="548640"/>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Scaling beyond twenty-five species</a:t>
            </a:r>
          </a:p>
        </p:txBody>
      </p:sp>
      <p:sp>
        <p:nvSpPr>
          <p:cNvPr id="61" name="Right Arrow 60"/>
          <p:cNvSpPr/>
          <p:nvPr/>
        </p:nvSpPr>
        <p:spPr>
          <a:xfrm>
            <a:off x="5833872" y="5550408"/>
            <a:ext cx="310896" cy="201168"/>
          </a:xfrm>
          <a:prstGeom prst="rightArrow">
            <a:avLst/>
          </a:prstGeom>
          <a:solidFill>
            <a:srgbClr val="7FB0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272784" y="5376672"/>
            <a:ext cx="5440680" cy="548640"/>
          </a:xfrm>
          <a:prstGeom prst="roundRect">
            <a:avLst>
              <a:gd name="adj" fmla="val 12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Rectangle 62"/>
          <p:cNvSpPr/>
          <p:nvPr/>
        </p:nvSpPr>
        <p:spPr>
          <a:xfrm>
            <a:off x="6272784" y="5458968"/>
            <a:ext cx="41148" cy="384048"/>
          </a:xfrm>
          <a:prstGeom prst="rect">
            <a:avLst/>
          </a:prstGeom>
          <a:solidFill>
            <a:srgbClr val="2F85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6473952" y="5376672"/>
            <a:ext cx="5120640" cy="548640"/>
          </a:xfrm>
          <a:prstGeom prst="rect">
            <a:avLst/>
          </a:prstGeom>
          <a:noFill/>
        </p:spPr>
        <p:txBody>
          <a:bodyPr wrap="square" lIns="0" tIns="0" rIns="0" bIns="0" anchor="ctr">
            <a:spAutoFit/>
          </a:bodyPr>
          <a:lstStyle/>
          <a:p>
            <a:pPr algn="l">
              <a:lnSpc>
                <a:spcPct val="100000"/>
              </a:lnSpc>
            </a:pPr>
            <a:r>
              <a:rPr sz="950" b="0" i="0" u="none">
                <a:solidFill>
                  <a:srgbClr val="37463D"/>
                </a:solidFill>
                <a:latin typeface="Arial"/>
              </a:rPr>
              <a:t>Data-driven: ~30 lines per plant, with no artist and no asset budget in the loop</a:t>
            </a:r>
          </a:p>
        </p:txBody>
      </p:sp>
      <p:sp>
        <p:nvSpPr>
          <p:cNvPr id="65" name="TextBox 64"/>
          <p:cNvSpPr txBox="1"/>
          <p:nvPr/>
        </p:nvSpPr>
        <p:spPr>
          <a:xfrm>
            <a:off x="475488" y="6053328"/>
            <a:ext cx="11237976" cy="256032"/>
          </a:xfrm>
          <a:prstGeom prst="rect">
            <a:avLst/>
          </a:prstGeom>
          <a:noFill/>
        </p:spPr>
        <p:txBody>
          <a:bodyPr wrap="square" lIns="0" tIns="0" rIns="0" bIns="0" anchor="t">
            <a:spAutoFit/>
          </a:bodyPr>
          <a:lstStyle/>
          <a:p>
            <a:pPr algn="l"/>
            <a:r>
              <a:rPr sz="900" b="1" i="0" u="none">
                <a:solidFill>
                  <a:srgbClr val="1E6B45"/>
                </a:solidFill>
                <a:latin typeface="Arial"/>
              </a:rPr>
              <a:t>Viability: </a:t>
            </a:r>
            <a:r>
              <a:rPr sz="900" b="0" i="0" u="none">
                <a:solidFill>
                  <a:srgbClr val="5B6B60"/>
                </a:solidFill>
                <a:latin typeface="Arial"/>
              </a:rPr>
              <a:t>hosting is a static bundle, content grows by data entry, and every plant page carries its own contraindications — the project can scale to hundreds of species without changing a line of the renderer.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6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460" fill="hold"/>
                                        <p:tgtEl>
                                          <p:spTgt spid="16"/>
                                        </p:tgtEl>
                                        <p:attrNameLst>
                                          <p:attrName>ppt_y</p:attrName>
                                        </p:attrNameLst>
                                      </p:cBhvr>
                                      <p:tavLst>
                                        <p:tav tm="0">
                                          <p:val>
                                            <p:strVal val="#ppt_y+.035"/>
                                          </p:val>
                                        </p:tav>
                                        <p:tav tm="100000">
                                          <p:val>
                                            <p:strVal val="#ppt_y"/>
                                          </p:val>
                                        </p:tav>
                                      </p:tavLst>
                                    </p:anim>
                                    <p:animEffect transition="in" filter="fade">
                                      <p:cBhvr>
                                        <p:cTn id="8" dur="460"/>
                                        <p:tgtEl>
                                          <p:spTgt spid="16"/>
                                        </p:tgtEl>
                                      </p:cBhvr>
                                    </p:animEffect>
                                  </p:childTnLst>
                                </p:cTn>
                              </p:par>
                            </p:childTnLst>
                          </p:cTn>
                        </p:par>
                      </p:childTnLst>
                    </p:cTn>
                  </p:par>
                  <p:par>
                    <p:cTn id="9" fill="hold">
                      <p:stCondLst>
                        <p:cond delay="17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460" fill="hold"/>
                                        <p:tgtEl>
                                          <p:spTgt spid="19"/>
                                        </p:tgtEl>
                                        <p:attrNameLst>
                                          <p:attrName>ppt_y</p:attrName>
                                        </p:attrNameLst>
                                      </p:cBhvr>
                                      <p:tavLst>
                                        <p:tav tm="0">
                                          <p:val>
                                            <p:strVal val="#ppt_y+.035"/>
                                          </p:val>
                                        </p:tav>
                                        <p:tav tm="100000">
                                          <p:val>
                                            <p:strVal val="#ppt_y"/>
                                          </p:val>
                                        </p:tav>
                                      </p:tavLst>
                                    </p:anim>
                                    <p:animEffect transition="in" filter="fade">
                                      <p:cBhvr>
                                        <p:cTn id="14" dur="460"/>
                                        <p:tgtEl>
                                          <p:spTgt spid="19"/>
                                        </p:tgtEl>
                                      </p:cBhvr>
                                    </p:animEffect>
                                  </p:childTnLst>
                                </p:cTn>
                              </p:par>
                            </p:childTnLst>
                          </p:cTn>
                        </p:par>
                      </p:childTnLst>
                    </p:cTn>
                  </p:par>
                  <p:par>
                    <p:cTn id="15" fill="hold">
                      <p:stCondLst>
                        <p:cond delay="280"/>
                      </p:stCondLst>
                      <p:childTnLst>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460" fill="hold"/>
                                        <p:tgtEl>
                                          <p:spTgt spid="22"/>
                                        </p:tgtEl>
                                        <p:attrNameLst>
                                          <p:attrName>ppt_y</p:attrName>
                                        </p:attrNameLst>
                                      </p:cBhvr>
                                      <p:tavLst>
                                        <p:tav tm="0">
                                          <p:val>
                                            <p:strVal val="#ppt_y+.035"/>
                                          </p:val>
                                        </p:tav>
                                        <p:tav tm="100000">
                                          <p:val>
                                            <p:strVal val="#ppt_y"/>
                                          </p:val>
                                        </p:tav>
                                      </p:tavLst>
                                    </p:anim>
                                    <p:animEffect transition="in" filter="fade">
                                      <p:cBhvr>
                                        <p:cTn id="20" dur="460"/>
                                        <p:tgtEl>
                                          <p:spTgt spid="22"/>
                                        </p:tgtEl>
                                      </p:cBhvr>
                                    </p:animEffect>
                                  </p:childTnLst>
                                </p:cTn>
                              </p:par>
                            </p:childTnLst>
                          </p:cTn>
                        </p:par>
                      </p:childTnLst>
                    </p:cTn>
                  </p:par>
                  <p:par>
                    <p:cTn id="21" fill="hold">
                      <p:stCondLst>
                        <p:cond delay="390"/>
                      </p:stCondLst>
                      <p:childTnLst>
                        <p:par>
                          <p:cTn id="22" fill="hold">
                            <p:stCondLst>
                              <p:cond delay="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460" fill="hold"/>
                                        <p:tgtEl>
                                          <p:spTgt spid="25"/>
                                        </p:tgtEl>
                                        <p:attrNameLst>
                                          <p:attrName>ppt_y</p:attrName>
                                        </p:attrNameLst>
                                      </p:cBhvr>
                                      <p:tavLst>
                                        <p:tav tm="0">
                                          <p:val>
                                            <p:strVal val="#ppt_y+.035"/>
                                          </p:val>
                                        </p:tav>
                                        <p:tav tm="100000">
                                          <p:val>
                                            <p:strVal val="#ppt_y"/>
                                          </p:val>
                                        </p:tav>
                                      </p:tavLst>
                                    </p:anim>
                                    <p:animEffect transition="in" filter="fade">
                                      <p:cBhvr>
                                        <p:cTn id="26" dur="460"/>
                                        <p:tgtEl>
                                          <p:spTgt spid="25"/>
                                        </p:tgtEl>
                                      </p:cBhvr>
                                    </p:animEffect>
                                  </p:childTnLst>
                                </p:cTn>
                              </p:par>
                            </p:childTnLst>
                          </p:cTn>
                        </p:par>
                      </p:childTnLst>
                    </p:cTn>
                  </p:par>
                  <p:par>
                    <p:cTn id="27" fill="hold">
                      <p:stCondLst>
                        <p:cond delay="140"/>
                      </p:stCondLst>
                      <p:childTnLst>
                        <p:par>
                          <p:cTn id="28" fill="hold">
                            <p:stCondLst>
                              <p:cond delay="0"/>
                            </p:stCondLst>
                            <p:childTnLst>
                              <p:par>
                                <p:cTn id="29" presetID="10"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360"/>
                                        <p:tgtEl>
                                          <p:spTgt spid="30"/>
                                        </p:tgtEl>
                                      </p:cBhvr>
                                    </p:animEffect>
                                  </p:childTnLst>
                                </p:cTn>
                              </p:par>
                            </p:childTnLst>
                          </p:cTn>
                        </p:par>
                      </p:childTnLst>
                    </p:cTn>
                  </p:par>
                  <p:par>
                    <p:cTn id="32" fill="hold">
                      <p:stCondLst>
                        <p:cond delay="195"/>
                      </p:stCondLst>
                      <p:childTnLst>
                        <p:par>
                          <p:cTn id="33" fill="hold">
                            <p:stCondLst>
                              <p:cond delay="0"/>
                            </p:stCondLst>
                            <p:childTnLst>
                              <p:par>
                                <p:cTn id="34" presetID="10" presetClass="entr" presetSubtype="0" fill="hold" grpId="0"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360"/>
                                        <p:tgtEl>
                                          <p:spTgt spid="33"/>
                                        </p:tgtEl>
                                      </p:cBhvr>
                                    </p:animEffect>
                                  </p:childTnLst>
                                </p:cTn>
                              </p:par>
                            </p:childTnLst>
                          </p:cTn>
                        </p:par>
                      </p:childTnLst>
                    </p:cTn>
                  </p:par>
                  <p:par>
                    <p:cTn id="37" fill="hold">
                      <p:stCondLst>
                        <p:cond delay="250"/>
                      </p:stCondLst>
                      <p:childTnLst>
                        <p:par>
                          <p:cTn id="38" fill="hold">
                            <p:stCondLst>
                              <p:cond delay="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360"/>
                                        <p:tgtEl>
                                          <p:spTgt spid="34"/>
                                        </p:tgtEl>
                                      </p:cBhvr>
                                    </p:animEffect>
                                  </p:childTnLst>
                                </p:cTn>
                              </p:par>
                            </p:childTnLst>
                          </p:cTn>
                        </p:par>
                      </p:childTnLst>
                    </p:cTn>
                  </p:par>
                  <p:par>
                    <p:cTn id="42" fill="hold">
                      <p:stCondLst>
                        <p:cond delay="305"/>
                      </p:stCondLst>
                      <p:childTnLst>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360"/>
                                        <p:tgtEl>
                                          <p:spTgt spid="37"/>
                                        </p:tgtEl>
                                      </p:cBhvr>
                                    </p:animEffect>
                                  </p:childTnLst>
                                </p:cTn>
                              </p:par>
                            </p:childTnLst>
                          </p:cTn>
                        </p:par>
                      </p:childTnLst>
                    </p:cTn>
                  </p:par>
                  <p:par>
                    <p:cTn id="47" fill="hold">
                      <p:stCondLst>
                        <p:cond delay="360"/>
                      </p:stCondLst>
                      <p:childTnLst>
                        <p:par>
                          <p:cTn id="48" fill="hold">
                            <p:stCondLst>
                              <p:cond delay="0"/>
                            </p:stCondLst>
                            <p:childTnLst>
                              <p:par>
                                <p:cTn id="49" presetID="10" presetClass="entr" presetSubtype="0"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360"/>
                                        <p:tgtEl>
                                          <p:spTgt spid="40"/>
                                        </p:tgtEl>
                                      </p:cBhvr>
                                    </p:animEffect>
                                  </p:childTnLst>
                                </p:cTn>
                              </p:par>
                            </p:childTnLst>
                          </p:cTn>
                        </p:par>
                      </p:childTnLst>
                    </p:cTn>
                  </p:par>
                  <p:par>
                    <p:cTn id="52" fill="hold">
                      <p:stCondLst>
                        <p:cond delay="415"/>
                      </p:stCondLst>
                      <p:childTnLst>
                        <p:par>
                          <p:cTn id="53" fill="hold">
                            <p:stCondLst>
                              <p:cond delay="0"/>
                            </p:stCondLst>
                            <p:childTnLst>
                              <p:par>
                                <p:cTn id="54" presetID="10" presetClass="entr" presetSubtype="0" fill="hold" grpId="0" nodeType="after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360"/>
                                        <p:tgtEl>
                                          <p:spTgt spid="41"/>
                                        </p:tgtEl>
                                      </p:cBhvr>
                                    </p:animEffect>
                                  </p:childTnLst>
                                </p:cTn>
                              </p:par>
                            </p:childTnLst>
                          </p:cTn>
                        </p:par>
                      </p:childTnLst>
                    </p:cTn>
                  </p:par>
                  <p:par>
                    <p:cTn id="57" fill="hold">
                      <p:stCondLst>
                        <p:cond delay="470"/>
                      </p:stCondLst>
                      <p:childTnLst>
                        <p:par>
                          <p:cTn id="58" fill="hold">
                            <p:stCondLst>
                              <p:cond delay="0"/>
                            </p:stCondLst>
                            <p:childTnLst>
                              <p:par>
                                <p:cTn id="59" presetID="10" presetClass="entr" presetSubtype="0"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360"/>
                                        <p:tgtEl>
                                          <p:spTgt spid="44"/>
                                        </p:tgtEl>
                                      </p:cBhvr>
                                    </p:animEffect>
                                  </p:childTnLst>
                                </p:cTn>
                              </p:par>
                            </p:childTnLst>
                          </p:cTn>
                        </p:par>
                      </p:childTnLst>
                    </p:cTn>
                  </p:par>
                  <p:par>
                    <p:cTn id="62" fill="hold">
                      <p:stCondLst>
                        <p:cond delay="525"/>
                      </p:stCondLst>
                      <p:childTnLst>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360"/>
                                        <p:tgtEl>
                                          <p:spTgt spid="47"/>
                                        </p:tgtEl>
                                      </p:cBhvr>
                                    </p:animEffect>
                                  </p:childTnLst>
                                </p:cTn>
                              </p:par>
                            </p:childTnLst>
                          </p:cTn>
                        </p:par>
                      </p:childTnLst>
                    </p:cTn>
                  </p:par>
                  <p:par>
                    <p:cTn id="67" fill="hold">
                      <p:stCondLst>
                        <p:cond delay="580"/>
                      </p:stCondLst>
                      <p:childTnLst>
                        <p:par>
                          <p:cTn id="68" fill="hold">
                            <p:stCondLst>
                              <p:cond delay="0"/>
                            </p:stCondLst>
                            <p:childTnLst>
                              <p:par>
                                <p:cTn id="69" presetID="10" presetClass="entr" presetSubtype="0" fill="hold" grpId="0" nodeType="after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60"/>
                                        <p:tgtEl>
                                          <p:spTgt spid="48"/>
                                        </p:tgtEl>
                                      </p:cBhvr>
                                    </p:animEffect>
                                  </p:childTnLst>
                                </p:cTn>
                              </p:par>
                            </p:childTnLst>
                          </p:cTn>
                        </p:par>
                      </p:childTnLst>
                    </p:cTn>
                  </p:par>
                  <p:par>
                    <p:cTn id="72" fill="hold">
                      <p:stCondLst>
                        <p:cond delay="635"/>
                      </p:stCondLst>
                      <p:childTnLst>
                        <p:par>
                          <p:cTn id="73" fill="hold">
                            <p:stCondLst>
                              <p:cond delay="0"/>
                            </p:stCondLst>
                            <p:childTnLst>
                              <p:par>
                                <p:cTn id="74" presetID="10" presetClass="entr" presetSubtype="0" fill="hold" grpId="0" nodeType="after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fade">
                                      <p:cBhvr>
                                        <p:cTn id="76" dur="360"/>
                                        <p:tgtEl>
                                          <p:spTgt spid="51"/>
                                        </p:tgtEl>
                                      </p:cBhvr>
                                    </p:animEffect>
                                  </p:childTnLst>
                                </p:cTn>
                              </p:par>
                            </p:childTnLst>
                          </p:cTn>
                        </p:par>
                      </p:childTnLst>
                    </p:cTn>
                  </p:par>
                  <p:par>
                    <p:cTn id="77" fill="hold">
                      <p:stCondLst>
                        <p:cond delay="690"/>
                      </p:stCondLst>
                      <p:childTnLst>
                        <p:par>
                          <p:cTn id="78" fill="hold">
                            <p:stCondLst>
                              <p:cond delay="0"/>
                            </p:stCondLst>
                            <p:childTnLst>
                              <p:par>
                                <p:cTn id="79" presetID="10" presetClass="entr" presetSubtype="0" fill="hold" grpId="0" nodeType="after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360"/>
                                        <p:tgtEl>
                                          <p:spTgt spid="54"/>
                                        </p:tgtEl>
                                      </p:cBhvr>
                                    </p:animEffect>
                                  </p:childTnLst>
                                </p:cTn>
                              </p:par>
                            </p:childTnLst>
                          </p:cTn>
                        </p:par>
                      </p:childTnLst>
                    </p:cTn>
                  </p:par>
                  <p:par>
                    <p:cTn id="82" fill="hold">
                      <p:stCondLst>
                        <p:cond delay="745"/>
                      </p:stCondLst>
                      <p:childTnLst>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55"/>
                                        </p:tgtEl>
                                        <p:attrNameLst>
                                          <p:attrName>style.visibility</p:attrName>
                                        </p:attrNameLst>
                                      </p:cBhvr>
                                      <p:to>
                                        <p:strVal val="visible"/>
                                      </p:to>
                                    </p:set>
                                    <p:animEffect transition="in" filter="fade">
                                      <p:cBhvr>
                                        <p:cTn id="86" dur="360"/>
                                        <p:tgtEl>
                                          <p:spTgt spid="55"/>
                                        </p:tgtEl>
                                      </p:cBhvr>
                                    </p:animEffect>
                                  </p:childTnLst>
                                </p:cTn>
                              </p:par>
                            </p:childTnLst>
                          </p:cTn>
                        </p:par>
                      </p:childTnLst>
                    </p:cTn>
                  </p:par>
                  <p:par>
                    <p:cTn id="87" fill="hold">
                      <p:stCondLst>
                        <p:cond delay="800"/>
                      </p:stCondLst>
                      <p:childTnLst>
                        <p:par>
                          <p:cTn id="88" fill="hold">
                            <p:stCondLst>
                              <p:cond delay="0"/>
                            </p:stCondLst>
                            <p:childTnLst>
                              <p:par>
                                <p:cTn id="89" presetID="10" presetClass="entr" presetSubtype="0" fill="hold" grpId="0"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360"/>
                                        <p:tgtEl>
                                          <p:spTgt spid="58"/>
                                        </p:tgtEl>
                                      </p:cBhvr>
                                    </p:animEffect>
                                  </p:childTnLst>
                                </p:cTn>
                              </p:par>
                            </p:childTnLst>
                          </p:cTn>
                        </p:par>
                      </p:childTnLst>
                    </p:cTn>
                  </p:par>
                  <p:par>
                    <p:cTn id="92" fill="hold">
                      <p:stCondLst>
                        <p:cond delay="855"/>
                      </p:stCondLst>
                      <p:childTnLst>
                        <p:par>
                          <p:cTn id="93" fill="hold">
                            <p:stCondLst>
                              <p:cond delay="0"/>
                            </p:stCondLst>
                            <p:childTnLst>
                              <p:par>
                                <p:cTn id="94" presetID="10" presetClass="entr" presetSubtype="0" fill="hold" grpId="0" nodeType="afterEffect">
                                  <p:stCondLst>
                                    <p:cond delay="0"/>
                                  </p:stCondLst>
                                  <p:childTnLst>
                                    <p:set>
                                      <p:cBhvr>
                                        <p:cTn id="95" dur="1" fill="hold">
                                          <p:stCondLst>
                                            <p:cond delay="0"/>
                                          </p:stCondLst>
                                        </p:cTn>
                                        <p:tgtEl>
                                          <p:spTgt spid="61"/>
                                        </p:tgtEl>
                                        <p:attrNameLst>
                                          <p:attrName>style.visibility</p:attrName>
                                        </p:attrNameLst>
                                      </p:cBhvr>
                                      <p:to>
                                        <p:strVal val="visible"/>
                                      </p:to>
                                    </p:set>
                                    <p:animEffect transition="in" filter="fade">
                                      <p:cBhvr>
                                        <p:cTn id="96" dur="360"/>
                                        <p:tgtEl>
                                          <p:spTgt spid="61"/>
                                        </p:tgtEl>
                                      </p:cBhvr>
                                    </p:animEffect>
                                  </p:childTnLst>
                                </p:cTn>
                              </p:par>
                            </p:childTnLst>
                          </p:cTn>
                        </p:par>
                      </p:childTnLst>
                    </p:cTn>
                  </p:par>
                  <p:par>
                    <p:cTn id="97" fill="hold">
                      <p:stCondLst>
                        <p:cond delay="910"/>
                      </p:stCondLst>
                      <p:childTnLst>
                        <p:par>
                          <p:cTn id="98" fill="hold">
                            <p:stCondLst>
                              <p:cond delay="0"/>
                            </p:stCondLst>
                            <p:childTnLst>
                              <p:par>
                                <p:cTn id="99" presetID="10" presetClass="entr" presetSubtype="0" fill="hold" grpId="0" nodeType="afterEffect">
                                  <p:stCondLst>
                                    <p:cond delay="0"/>
                                  </p:stCondLst>
                                  <p:childTnLst>
                                    <p:set>
                                      <p:cBhvr>
                                        <p:cTn id="100" dur="1" fill="hold">
                                          <p:stCondLst>
                                            <p:cond delay="0"/>
                                          </p:stCondLst>
                                        </p:cTn>
                                        <p:tgtEl>
                                          <p:spTgt spid="62"/>
                                        </p:tgtEl>
                                        <p:attrNameLst>
                                          <p:attrName>style.visibility</p:attrName>
                                        </p:attrNameLst>
                                      </p:cBhvr>
                                      <p:to>
                                        <p:strVal val="visible"/>
                                      </p:to>
                                    </p:set>
                                    <p:animEffect transition="in" filter="fade">
                                      <p:cBhvr>
                                        <p:cTn id="101" dur="36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30" grpId="0" animBg="1"/>
      <p:bldP spid="33" grpId="0" animBg="1"/>
      <p:bldP spid="34" grpId="0" animBg="1"/>
      <p:bldP spid="37" grpId="0" animBg="1"/>
      <p:bldP spid="40" grpId="0" animBg="1"/>
      <p:bldP spid="41" grpId="0" animBg="1"/>
      <p:bldP spid="44" grpId="0" animBg="1"/>
      <p:bldP spid="47" grpId="0" animBg="1"/>
      <p:bldP spid="48" grpId="0" animBg="1"/>
      <p:bldP spid="51" grpId="0" animBg="1"/>
      <p:bldP spid="54" grpId="0" animBg="1"/>
      <p:bldP spid="55" grpId="0" animBg="1"/>
      <p:bldP spid="58" grpId="0" animBg="1"/>
      <p:bldP spid="61" grpId="0" animBg="1"/>
      <p:bldP spid="6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7F8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191969" cy="68580"/>
          </a:xfrm>
          <a:prstGeom prst="rect">
            <a:avLst/>
          </a:prstGeom>
          <a:gradFill rotWithShape="1">
            <a:gsLst>
              <a:gs pos="0">
                <a:srgbClr val="D9A13C"/>
              </a:gs>
              <a:gs pos="100000">
                <a:srgbClr val="1E6B4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ectangle 3"/>
          <p:cNvSpPr/>
          <p:nvPr/>
        </p:nvSpPr>
        <p:spPr>
          <a:xfrm>
            <a:off x="0" y="6354165"/>
            <a:ext cx="12191969" cy="50383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384048" y="6354165"/>
            <a:ext cx="4572000" cy="503834"/>
          </a:xfrm>
          <a:prstGeom prst="rect">
            <a:avLst/>
          </a:prstGeom>
          <a:noFill/>
        </p:spPr>
        <p:txBody>
          <a:bodyPr wrap="square" lIns="0" tIns="0" rIns="0" bIns="0" anchor="ctr">
            <a:spAutoFit/>
          </a:bodyPr>
          <a:lstStyle/>
          <a:p>
            <a:pPr algn="l"/>
            <a:r>
              <a:rPr sz="950" b="1" i="0" u="none" spc="80">
                <a:solidFill>
                  <a:srgbClr val="FFFFFF"/>
                </a:solidFill>
                <a:latin typeface="Arial"/>
              </a:rPr>
              <a:t>VANASPATI  ·  Virtual Herbal Garden</a:t>
            </a:r>
          </a:p>
        </p:txBody>
      </p:sp>
      <p:sp>
        <p:nvSpPr>
          <p:cNvPr id="6" name="TextBox 5"/>
          <p:cNvSpPr txBox="1"/>
          <p:nvPr/>
        </p:nvSpPr>
        <p:spPr>
          <a:xfrm>
            <a:off x="4206240" y="6354165"/>
            <a:ext cx="3749039" cy="503834"/>
          </a:xfrm>
          <a:prstGeom prst="rect">
            <a:avLst/>
          </a:prstGeom>
          <a:noFill/>
        </p:spPr>
        <p:txBody>
          <a:bodyPr wrap="square" lIns="0" tIns="0" rIns="0" bIns="0" anchor="ctr">
            <a:spAutoFit/>
          </a:bodyPr>
          <a:lstStyle/>
          <a:p>
            <a:pPr algn="ctr"/>
            <a:r>
              <a:rPr sz="950" b="0" i="0" u="none">
                <a:solidFill>
                  <a:srgbClr val="FFFFFF"/>
                </a:solidFill>
                <a:latin typeface="Arial"/>
              </a:rPr>
              <a:t>@SIH Idea submission- Template</a:t>
            </a:r>
          </a:p>
        </p:txBody>
      </p:sp>
      <p:sp>
        <p:nvSpPr>
          <p:cNvPr id="7" name="TextBox 6"/>
          <p:cNvSpPr txBox="1"/>
          <p:nvPr/>
        </p:nvSpPr>
        <p:spPr>
          <a:xfrm>
            <a:off x="10424160" y="6354165"/>
            <a:ext cx="1280160" cy="503834"/>
          </a:xfrm>
          <a:prstGeom prst="rect">
            <a:avLst/>
          </a:prstGeom>
          <a:noFill/>
        </p:spPr>
        <p:txBody>
          <a:bodyPr wrap="square" lIns="0" tIns="0" rIns="0" bIns="0" anchor="ctr">
            <a:spAutoFit/>
          </a:bodyPr>
          <a:lstStyle/>
          <a:p>
            <a:pPr algn="r"/>
            <a:r>
              <a:rPr sz="1100" b="1" i="0" u="none">
                <a:solidFill>
                  <a:srgbClr val="FFFFFF"/>
                </a:solidFill>
                <a:latin typeface="Arial"/>
              </a:rPr>
              <a:t>5</a:t>
            </a:r>
          </a:p>
        </p:txBody>
      </p:sp>
      <p:pic>
        <p:nvPicPr>
          <p:cNvPr id="8" name="Picture 7" descr="image2.png"/>
          <p:cNvPicPr>
            <a:picLocks noChangeAspect="1"/>
          </p:cNvPicPr>
          <p:nvPr/>
        </p:nvPicPr>
        <p:blipFill>
          <a:blip r:embed="rId3"/>
          <a:stretch>
            <a:fillRect/>
          </a:stretch>
        </p:blipFill>
        <p:spPr>
          <a:xfrm>
            <a:off x="10113264" y="182880"/>
            <a:ext cx="1572768" cy="799185"/>
          </a:xfrm>
          <a:prstGeom prst="rect">
            <a:avLst/>
          </a:prstGeom>
        </p:spPr>
      </p:pic>
      <p:sp>
        <p:nvSpPr>
          <p:cNvPr id="9" name="TEAM LOGO PLACEHOLDER"/>
          <p:cNvSpPr/>
          <p:nvPr/>
        </p:nvSpPr>
        <p:spPr>
          <a:xfrm>
            <a:off x="475488" y="201168"/>
            <a:ext cx="877824" cy="576072"/>
          </a:xfrm>
          <a:prstGeom prst="ellipse">
            <a:avLst/>
          </a:prstGeom>
          <a:no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u="none" spc="60">
                <a:solidFill>
                  <a:srgbClr val="7FB06D"/>
                </a:solidFill>
                <a:latin typeface="Arial"/>
              </a:rPr>
              <a:t>TEAM
LOGO</a:t>
            </a:r>
          </a:p>
        </p:txBody>
      </p:sp>
      <p:pic>
        <p:nvPicPr>
          <p:cNvPr id="10" name="Picture 9" descr="leaf_aloe_ghost.png"/>
          <p:cNvPicPr>
            <a:picLocks noChangeAspect="1"/>
          </p:cNvPicPr>
          <p:nvPr/>
        </p:nvPicPr>
        <p:blipFill>
          <a:blip r:embed="rId4"/>
          <a:stretch>
            <a:fillRect/>
          </a:stretch>
        </p:blipFill>
        <p:spPr>
          <a:xfrm rot="20820000">
            <a:off x="9752815" y="91440"/>
            <a:ext cx="177569" cy="932688"/>
          </a:xfrm>
          <a:prstGeom prst="rect">
            <a:avLst/>
          </a:prstGeom>
        </p:spPr>
      </p:pic>
      <p:sp>
        <p:nvSpPr>
          <p:cNvPr id="11" name="TextBox 10"/>
          <p:cNvSpPr txBox="1"/>
          <p:nvPr/>
        </p:nvSpPr>
        <p:spPr>
          <a:xfrm>
            <a:off x="1481328" y="173736"/>
            <a:ext cx="7863840" cy="475488"/>
          </a:xfrm>
          <a:prstGeom prst="rect">
            <a:avLst/>
          </a:prstGeom>
          <a:noFill/>
        </p:spPr>
        <p:txBody>
          <a:bodyPr wrap="square" lIns="0" tIns="0" rIns="0" bIns="0" anchor="t">
            <a:spAutoFit/>
          </a:bodyPr>
          <a:lstStyle/>
          <a:p>
            <a:pPr algn="l"/>
            <a:r>
              <a:rPr sz="2700" b="1" i="0" u="none" spc="60">
                <a:solidFill>
                  <a:srgbClr val="12261C"/>
                </a:solidFill>
                <a:latin typeface="Times New Roman"/>
              </a:rPr>
              <a:t>IMPACT AND BENEFITS</a:t>
            </a:r>
          </a:p>
        </p:txBody>
      </p:sp>
      <p:sp>
        <p:nvSpPr>
          <p:cNvPr id="12" name="TextBox 11"/>
          <p:cNvSpPr txBox="1"/>
          <p:nvPr/>
        </p:nvSpPr>
        <p:spPr>
          <a:xfrm>
            <a:off x="1481328" y="658368"/>
            <a:ext cx="7498079" cy="237744"/>
          </a:xfrm>
          <a:prstGeom prst="rect">
            <a:avLst/>
          </a:prstGeom>
          <a:noFill/>
        </p:spPr>
        <p:txBody>
          <a:bodyPr wrap="square" lIns="0" tIns="0" rIns="0" bIns="0" anchor="t">
            <a:spAutoFit/>
          </a:bodyPr>
          <a:lstStyle/>
          <a:p>
            <a:pPr algn="l"/>
            <a:r>
              <a:rPr sz="1000" b="0" i="1" u="none">
                <a:solidFill>
                  <a:srgbClr val="5B6B60"/>
                </a:solidFill>
                <a:latin typeface="Arial"/>
              </a:rPr>
              <a:t>A garden that costs no plant to teach with</a:t>
            </a:r>
          </a:p>
        </p:txBody>
      </p:sp>
      <p:sp>
        <p:nvSpPr>
          <p:cNvPr id="13" name="Rectangle 12"/>
          <p:cNvSpPr/>
          <p:nvPr/>
        </p:nvSpPr>
        <p:spPr>
          <a:xfrm>
            <a:off x="1481328" y="918971"/>
            <a:ext cx="10232136" cy="10972"/>
          </a:xfrm>
          <a:prstGeom prst="rect">
            <a:avLst/>
          </a:prstGeom>
          <a:solidFill>
            <a:srgbClr val="DDE3D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1481328" y="914400"/>
            <a:ext cx="1417320" cy="29260"/>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75488" y="1060704"/>
            <a:ext cx="5943600" cy="219456"/>
          </a:xfrm>
          <a:prstGeom prst="rect">
            <a:avLst/>
          </a:prstGeom>
          <a:noFill/>
        </p:spPr>
        <p:txBody>
          <a:bodyPr wrap="square" lIns="0" tIns="0" rIns="0" bIns="0" anchor="t">
            <a:spAutoFit/>
          </a:bodyPr>
          <a:lstStyle/>
          <a:p>
            <a:pPr algn="l"/>
            <a:r>
              <a:rPr sz="1000" b="1" i="0" u="sng">
                <a:solidFill>
                  <a:srgbClr val="1F497D"/>
                </a:solidFill>
                <a:latin typeface="Arial"/>
              </a:rPr>
              <a:t>Potential impact on the target audience</a:t>
            </a:r>
          </a:p>
        </p:txBody>
      </p:sp>
      <p:sp>
        <p:nvSpPr>
          <p:cNvPr id="16" name="Rounded Rectangle 15"/>
          <p:cNvSpPr/>
          <p:nvPr/>
        </p:nvSpPr>
        <p:spPr>
          <a:xfrm>
            <a:off x="475488" y="1335024"/>
            <a:ext cx="2672334" cy="1042415"/>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475488" y="1335024"/>
            <a:ext cx="2672334" cy="50292"/>
          </a:xfrm>
          <a:prstGeom prst="rect">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694944" y="1335024"/>
            <a:ext cx="2233422" cy="1042415"/>
          </a:xfrm>
          <a:prstGeom prst="rect">
            <a:avLst/>
          </a:prstGeom>
          <a:noFill/>
        </p:spPr>
        <p:txBody>
          <a:bodyPr wrap="square" lIns="0" tIns="0" rIns="0" bIns="0" anchor="ctr">
            <a:spAutoFit/>
          </a:bodyPr>
          <a:lstStyle/>
          <a:p>
            <a:pPr algn="l">
              <a:lnSpc>
                <a:spcPct val="102000"/>
              </a:lnSpc>
            </a:pPr>
            <a:r>
              <a:rPr sz="1050" b="1" i="0" u="none">
                <a:solidFill>
                  <a:srgbClr val="12261C"/>
                </a:solidFill>
                <a:latin typeface="Arial"/>
              </a:rPr>
              <a:t>AYUSH &amp; pharmacy students</a:t>
            </a:r>
          </a:p>
          <a:p>
            <a:pPr algn="l">
              <a:lnSpc>
                <a:spcPct val="102000"/>
              </a:lnSpc>
              <a:spcBef>
                <a:spcPts val="500"/>
              </a:spcBef>
            </a:pPr>
            <a:r>
              <a:rPr sz="900" b="0" i="0" u="none">
                <a:solidFill>
                  <a:srgbClr val="5B6B60"/>
                </a:solidFill>
                <a:latin typeface="Arial"/>
              </a:rPr>
              <a:t>identify a species by its structure, not by a caption</a:t>
            </a:r>
          </a:p>
        </p:txBody>
      </p:sp>
      <p:sp>
        <p:nvSpPr>
          <p:cNvPr id="19" name="Rounded Rectangle 18"/>
          <p:cNvSpPr/>
          <p:nvPr/>
        </p:nvSpPr>
        <p:spPr>
          <a:xfrm>
            <a:off x="3330702" y="1335024"/>
            <a:ext cx="2672334" cy="1042415"/>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ectangle 19"/>
          <p:cNvSpPr/>
          <p:nvPr/>
        </p:nvSpPr>
        <p:spPr>
          <a:xfrm>
            <a:off x="3330702" y="1335024"/>
            <a:ext cx="2672334" cy="50292"/>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3550158" y="1335024"/>
            <a:ext cx="2233422" cy="1042415"/>
          </a:xfrm>
          <a:prstGeom prst="rect">
            <a:avLst/>
          </a:prstGeom>
          <a:noFill/>
        </p:spPr>
        <p:txBody>
          <a:bodyPr wrap="square" lIns="0" tIns="0" rIns="0" bIns="0" anchor="ctr">
            <a:spAutoFit/>
          </a:bodyPr>
          <a:lstStyle/>
          <a:p>
            <a:pPr algn="l">
              <a:lnSpc>
                <a:spcPct val="102000"/>
              </a:lnSpc>
            </a:pPr>
            <a:r>
              <a:rPr sz="1050" b="1" i="0" u="none">
                <a:solidFill>
                  <a:srgbClr val="12261C"/>
                </a:solidFill>
                <a:latin typeface="Arial"/>
              </a:rPr>
              <a:t>School &amp; college classrooms</a:t>
            </a:r>
          </a:p>
          <a:p>
            <a:pPr algn="l">
              <a:lnSpc>
                <a:spcPct val="102000"/>
              </a:lnSpc>
              <a:spcBef>
                <a:spcPts val="500"/>
              </a:spcBef>
            </a:pPr>
            <a:r>
              <a:rPr sz="900" b="0" i="0" u="none">
                <a:solidFill>
                  <a:srgbClr val="5B6B60"/>
                </a:solidFill>
                <a:latin typeface="Arial"/>
              </a:rPr>
              <a:t>a whole botanical garden inside a browser tab</a:t>
            </a:r>
          </a:p>
        </p:txBody>
      </p:sp>
      <p:sp>
        <p:nvSpPr>
          <p:cNvPr id="22" name="Rounded Rectangle 21"/>
          <p:cNvSpPr/>
          <p:nvPr/>
        </p:nvSpPr>
        <p:spPr>
          <a:xfrm>
            <a:off x="6185916" y="1335024"/>
            <a:ext cx="2672334" cy="1042415"/>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6185916" y="1335024"/>
            <a:ext cx="2672334" cy="50292"/>
          </a:xfrm>
          <a:prstGeom prst="rect">
            <a:avLst/>
          </a:prstGeom>
          <a:solidFill>
            <a:srgbClr val="C974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6405372" y="1335024"/>
            <a:ext cx="2233422" cy="1042415"/>
          </a:xfrm>
          <a:prstGeom prst="rect">
            <a:avLst/>
          </a:prstGeom>
          <a:noFill/>
        </p:spPr>
        <p:txBody>
          <a:bodyPr wrap="square" lIns="0" tIns="0" rIns="0" bIns="0" anchor="ctr">
            <a:spAutoFit/>
          </a:bodyPr>
          <a:lstStyle/>
          <a:p>
            <a:pPr algn="l">
              <a:lnSpc>
                <a:spcPct val="102000"/>
              </a:lnSpc>
            </a:pPr>
            <a:r>
              <a:rPr sz="1050" b="1" i="0" u="none">
                <a:solidFill>
                  <a:srgbClr val="12261C"/>
                </a:solidFill>
                <a:latin typeface="Arial"/>
              </a:rPr>
              <a:t>Home growers</a:t>
            </a:r>
          </a:p>
          <a:p>
            <a:pPr algn="l">
              <a:lnSpc>
                <a:spcPct val="102000"/>
              </a:lnSpc>
              <a:spcBef>
                <a:spcPts val="500"/>
              </a:spcBef>
            </a:pPr>
            <a:r>
              <a:rPr sz="900" b="0" i="0" u="none">
                <a:solidFill>
                  <a:srgbClr val="5B6B60"/>
                </a:solidFill>
                <a:latin typeface="Arial"/>
              </a:rPr>
              <a:t>soil, spacing, water and harvest month for every plant</a:t>
            </a:r>
          </a:p>
        </p:txBody>
      </p:sp>
      <p:sp>
        <p:nvSpPr>
          <p:cNvPr id="25" name="Rounded Rectangle 24"/>
          <p:cNvSpPr/>
          <p:nvPr/>
        </p:nvSpPr>
        <p:spPr>
          <a:xfrm>
            <a:off x="9041130" y="1335024"/>
            <a:ext cx="2672334" cy="1042415"/>
          </a:xfrm>
          <a:prstGeom prst="roundRect">
            <a:avLst>
              <a:gd name="adj" fmla="val 9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9041130" y="1335024"/>
            <a:ext cx="2672334" cy="50292"/>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9260586" y="1335024"/>
            <a:ext cx="2233422" cy="1042415"/>
          </a:xfrm>
          <a:prstGeom prst="rect">
            <a:avLst/>
          </a:prstGeom>
          <a:noFill/>
        </p:spPr>
        <p:txBody>
          <a:bodyPr wrap="square" lIns="0" tIns="0" rIns="0" bIns="0" anchor="ctr">
            <a:spAutoFit/>
          </a:bodyPr>
          <a:lstStyle/>
          <a:p>
            <a:pPr algn="l">
              <a:lnSpc>
                <a:spcPct val="102000"/>
              </a:lnSpc>
            </a:pPr>
            <a:r>
              <a:rPr sz="1050" b="1" i="0" u="none">
                <a:solidFill>
                  <a:srgbClr val="12261C"/>
                </a:solidFill>
                <a:latin typeface="Arial"/>
              </a:rPr>
              <a:t>Practitioners &amp; eco-tourists</a:t>
            </a:r>
          </a:p>
          <a:p>
            <a:pPr algn="l">
              <a:lnSpc>
                <a:spcPct val="102000"/>
              </a:lnSpc>
              <a:spcBef>
                <a:spcPts val="500"/>
              </a:spcBef>
            </a:pPr>
            <a:r>
              <a:rPr sz="900" b="0" i="0" u="none">
                <a:solidFill>
                  <a:srgbClr val="5B6B60"/>
                </a:solidFill>
                <a:latin typeface="Arial"/>
              </a:rPr>
              <a:t>classical preparations, cautions, conservation status</a:t>
            </a:r>
          </a:p>
        </p:txBody>
      </p:sp>
      <p:sp>
        <p:nvSpPr>
          <p:cNvPr id="28" name="Rounded Rectangle 27"/>
          <p:cNvSpPr/>
          <p:nvPr/>
        </p:nvSpPr>
        <p:spPr>
          <a:xfrm>
            <a:off x="475488" y="2560320"/>
            <a:ext cx="11237976" cy="713232"/>
          </a:xfrm>
          <a:prstGeom prst="roundRect">
            <a:avLst>
              <a:gd name="adj" fmla="val 14000"/>
            </a:avLst>
          </a:prstGeom>
          <a:gradFill rotWithShape="1">
            <a:gsLst>
              <a:gs pos="0">
                <a:srgbClr val="1B4632"/>
              </a:gs>
              <a:gs pos="100000">
                <a:srgbClr val="0F2A1E"/>
              </a:gs>
            </a:gsLst>
            <a:lin ang="0" scaled="0"/>
          </a:gradFill>
          <a:ln>
            <a:noFill/>
          </a:ln>
          <a:effectLst>
            <a:outerShdw blurRad="110000" dist="26000" dir="5400000" rotWithShape="0">
              <a:srgbClr val="1B3A2A">
                <a:alpha val="16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475488" y="2560320"/>
            <a:ext cx="1872996" cy="713232"/>
          </a:xfrm>
          <a:prstGeom prst="rect">
            <a:avLst/>
          </a:prstGeom>
          <a:noFill/>
        </p:spPr>
        <p:txBody>
          <a:bodyPr wrap="square" lIns="0" tIns="0" rIns="0" bIns="0" anchor="ctr">
            <a:spAutoFit/>
          </a:bodyPr>
          <a:lstStyle/>
          <a:p>
            <a:pPr algn="ctr"/>
            <a:r>
              <a:rPr sz="1700" b="1" i="0" u="none">
                <a:solidFill>
                  <a:srgbClr val="9ED4A8"/>
                </a:solidFill>
                <a:latin typeface="Times New Roman"/>
              </a:rPr>
              <a:t>25  </a:t>
            </a:r>
            <a:r>
              <a:rPr sz="950" b="0" i="0" u="none">
                <a:solidFill>
                  <a:srgbClr val="C6D8CA"/>
                </a:solidFill>
                <a:latin typeface="Arial"/>
              </a:rPr>
              <a:t>species</a:t>
            </a:r>
          </a:p>
        </p:txBody>
      </p:sp>
      <p:sp>
        <p:nvSpPr>
          <p:cNvPr id="30" name="TextBox 29"/>
          <p:cNvSpPr txBox="1"/>
          <p:nvPr/>
        </p:nvSpPr>
        <p:spPr>
          <a:xfrm>
            <a:off x="2348484" y="2560320"/>
            <a:ext cx="1872996" cy="713232"/>
          </a:xfrm>
          <a:prstGeom prst="rect">
            <a:avLst/>
          </a:prstGeom>
          <a:noFill/>
        </p:spPr>
        <p:txBody>
          <a:bodyPr wrap="square" lIns="0" tIns="0" rIns="0" bIns="0" anchor="ctr">
            <a:spAutoFit/>
          </a:bodyPr>
          <a:lstStyle/>
          <a:p>
            <a:pPr algn="ctr"/>
            <a:r>
              <a:rPr sz="1700" b="1" i="0" u="none">
                <a:solidFill>
                  <a:srgbClr val="9ED4A8"/>
                </a:solidFill>
                <a:latin typeface="Times New Roman"/>
              </a:rPr>
              <a:t>6  </a:t>
            </a:r>
            <a:r>
              <a:rPr sz="950" b="0" i="0" u="none">
                <a:solidFill>
                  <a:srgbClr val="C6D8CA"/>
                </a:solidFill>
                <a:latin typeface="Arial"/>
              </a:rPr>
              <a:t>themed beds</a:t>
            </a:r>
          </a:p>
        </p:txBody>
      </p:sp>
      <p:sp>
        <p:nvSpPr>
          <p:cNvPr id="31" name="Rectangle 30"/>
          <p:cNvSpPr/>
          <p:nvPr/>
        </p:nvSpPr>
        <p:spPr>
          <a:xfrm>
            <a:off x="2348484" y="2743200"/>
            <a:ext cx="7315" cy="347472"/>
          </a:xfrm>
          <a:prstGeom prst="rect">
            <a:avLst/>
          </a:prstGeom>
          <a:solidFill>
            <a:srgbClr val="2F5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221480" y="2560320"/>
            <a:ext cx="1872996" cy="713232"/>
          </a:xfrm>
          <a:prstGeom prst="rect">
            <a:avLst/>
          </a:prstGeom>
          <a:noFill/>
        </p:spPr>
        <p:txBody>
          <a:bodyPr wrap="square" lIns="0" tIns="0" rIns="0" bIns="0" anchor="ctr">
            <a:spAutoFit/>
          </a:bodyPr>
          <a:lstStyle/>
          <a:p>
            <a:pPr algn="ctr"/>
            <a:r>
              <a:rPr sz="1700" b="1" i="0" u="none">
                <a:solidFill>
                  <a:srgbClr val="9ED4A8"/>
                </a:solidFill>
                <a:latin typeface="Times New Roman"/>
              </a:rPr>
              <a:t>6  </a:t>
            </a:r>
            <a:r>
              <a:rPr sz="950" b="0" i="0" u="none">
                <a:solidFill>
                  <a:srgbClr val="C6D8CA"/>
                </a:solidFill>
                <a:latin typeface="Arial"/>
              </a:rPr>
              <a:t>guided tours</a:t>
            </a:r>
          </a:p>
        </p:txBody>
      </p:sp>
      <p:sp>
        <p:nvSpPr>
          <p:cNvPr id="33" name="Rectangle 32"/>
          <p:cNvSpPr/>
          <p:nvPr/>
        </p:nvSpPr>
        <p:spPr>
          <a:xfrm>
            <a:off x="4221480" y="2743200"/>
            <a:ext cx="7315" cy="347472"/>
          </a:xfrm>
          <a:prstGeom prst="rect">
            <a:avLst/>
          </a:prstGeom>
          <a:solidFill>
            <a:srgbClr val="2F5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6094475" y="2560320"/>
            <a:ext cx="1872996" cy="713232"/>
          </a:xfrm>
          <a:prstGeom prst="rect">
            <a:avLst/>
          </a:prstGeom>
          <a:noFill/>
        </p:spPr>
        <p:txBody>
          <a:bodyPr wrap="square" lIns="0" tIns="0" rIns="0" bIns="0" anchor="ctr">
            <a:spAutoFit/>
          </a:bodyPr>
          <a:lstStyle/>
          <a:p>
            <a:pPr algn="ctr"/>
            <a:r>
              <a:rPr sz="1700" b="1" i="0" u="none">
                <a:solidFill>
                  <a:srgbClr val="9ED4A8"/>
                </a:solidFill>
                <a:latin typeface="Times New Roman"/>
              </a:rPr>
              <a:t>4  </a:t>
            </a:r>
            <a:r>
              <a:rPr sz="950" b="0" i="0" u="none">
                <a:solidFill>
                  <a:srgbClr val="C6D8CA"/>
                </a:solidFill>
                <a:latin typeface="Arial"/>
              </a:rPr>
              <a:t>plates each</a:t>
            </a:r>
          </a:p>
        </p:txBody>
      </p:sp>
      <p:sp>
        <p:nvSpPr>
          <p:cNvPr id="35" name="Rectangle 34"/>
          <p:cNvSpPr/>
          <p:nvPr/>
        </p:nvSpPr>
        <p:spPr>
          <a:xfrm>
            <a:off x="6094475" y="2743200"/>
            <a:ext cx="7315" cy="347472"/>
          </a:xfrm>
          <a:prstGeom prst="rect">
            <a:avLst/>
          </a:prstGeom>
          <a:solidFill>
            <a:srgbClr val="2F5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7967472" y="2560320"/>
            <a:ext cx="1872996" cy="713232"/>
          </a:xfrm>
          <a:prstGeom prst="rect">
            <a:avLst/>
          </a:prstGeom>
          <a:noFill/>
        </p:spPr>
        <p:txBody>
          <a:bodyPr wrap="square" lIns="0" tIns="0" rIns="0" bIns="0" anchor="ctr">
            <a:spAutoFit/>
          </a:bodyPr>
          <a:lstStyle/>
          <a:p>
            <a:pPr algn="ctr"/>
            <a:r>
              <a:rPr sz="1700" b="1" i="0" u="none">
                <a:solidFill>
                  <a:srgbClr val="9ED4A8"/>
                </a:solidFill>
                <a:latin typeface="Times New Roman"/>
              </a:rPr>
              <a:t>6  </a:t>
            </a:r>
            <a:r>
              <a:rPr sz="950" b="0" i="0" u="none">
                <a:solidFill>
                  <a:srgbClr val="C6D8CA"/>
                </a:solidFill>
                <a:latin typeface="Arial"/>
              </a:rPr>
              <a:t>languages</a:t>
            </a:r>
          </a:p>
        </p:txBody>
      </p:sp>
      <p:sp>
        <p:nvSpPr>
          <p:cNvPr id="37" name="Rectangle 36"/>
          <p:cNvSpPr/>
          <p:nvPr/>
        </p:nvSpPr>
        <p:spPr>
          <a:xfrm>
            <a:off x="7967472" y="2743200"/>
            <a:ext cx="7315" cy="347472"/>
          </a:xfrm>
          <a:prstGeom prst="rect">
            <a:avLst/>
          </a:prstGeom>
          <a:solidFill>
            <a:srgbClr val="2F5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9840468" y="2560320"/>
            <a:ext cx="1872996" cy="713232"/>
          </a:xfrm>
          <a:prstGeom prst="rect">
            <a:avLst/>
          </a:prstGeom>
          <a:noFill/>
        </p:spPr>
        <p:txBody>
          <a:bodyPr wrap="square" lIns="0" tIns="0" rIns="0" bIns="0" anchor="ctr">
            <a:spAutoFit/>
          </a:bodyPr>
          <a:lstStyle/>
          <a:p>
            <a:pPr algn="ctr"/>
            <a:r>
              <a:rPr sz="1700" b="1" i="0" u="none">
                <a:solidFill>
                  <a:srgbClr val="9ED4A8"/>
                </a:solidFill>
                <a:latin typeface="Times New Roman"/>
              </a:rPr>
              <a:t>0  </a:t>
            </a:r>
            <a:r>
              <a:rPr sz="950" b="0" i="0" u="none">
                <a:solidFill>
                  <a:srgbClr val="C6D8CA"/>
                </a:solidFill>
                <a:latin typeface="Arial"/>
              </a:rPr>
              <a:t>assets downloaded</a:t>
            </a:r>
          </a:p>
        </p:txBody>
      </p:sp>
      <p:sp>
        <p:nvSpPr>
          <p:cNvPr id="39" name="Rectangle 38"/>
          <p:cNvSpPr/>
          <p:nvPr/>
        </p:nvSpPr>
        <p:spPr>
          <a:xfrm>
            <a:off x="9840468" y="2743200"/>
            <a:ext cx="7315" cy="347472"/>
          </a:xfrm>
          <a:prstGeom prst="rect">
            <a:avLst/>
          </a:prstGeom>
          <a:solidFill>
            <a:srgbClr val="2F5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75488" y="3419856"/>
            <a:ext cx="6858000" cy="219456"/>
          </a:xfrm>
          <a:prstGeom prst="rect">
            <a:avLst/>
          </a:prstGeom>
          <a:noFill/>
        </p:spPr>
        <p:txBody>
          <a:bodyPr wrap="square" lIns="0" tIns="0" rIns="0" bIns="0" anchor="t">
            <a:spAutoFit/>
          </a:bodyPr>
          <a:lstStyle/>
          <a:p>
            <a:pPr algn="l"/>
            <a:r>
              <a:rPr sz="1000" b="1" i="0" u="sng">
                <a:solidFill>
                  <a:srgbClr val="1F497D"/>
                </a:solidFill>
                <a:latin typeface="Arial"/>
              </a:rPr>
              <a:t>Benefits of the solution (social, economic, environmental, etc.)</a:t>
            </a:r>
          </a:p>
        </p:txBody>
      </p:sp>
      <p:sp>
        <p:nvSpPr>
          <p:cNvPr id="41" name="Rounded Rectangle 40"/>
          <p:cNvSpPr/>
          <p:nvPr/>
        </p:nvSpPr>
        <p:spPr>
          <a:xfrm>
            <a:off x="475488" y="3694176"/>
            <a:ext cx="2615184" cy="2103120"/>
          </a:xfrm>
          <a:prstGeom prst="roundRect">
            <a:avLst>
              <a:gd name="adj" fmla="val 7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475488" y="3785615"/>
            <a:ext cx="50292" cy="1920239"/>
          </a:xfrm>
          <a:prstGeom prst="rect">
            <a:avLst/>
          </a:prstGeom>
          <a:solidFill>
            <a:srgbClr val="7C72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694944" y="3858768"/>
            <a:ext cx="2194560" cy="1783080"/>
          </a:xfrm>
          <a:prstGeom prst="rect">
            <a:avLst/>
          </a:prstGeom>
          <a:noFill/>
        </p:spPr>
        <p:txBody>
          <a:bodyPr wrap="square" lIns="0" tIns="0" rIns="0" bIns="0" anchor="t">
            <a:spAutoFit/>
          </a:bodyPr>
          <a:lstStyle/>
          <a:p>
            <a:pPr algn="l"/>
            <a:r>
              <a:rPr sz="950" b="1" i="0" u="none" spc="140">
                <a:solidFill>
                  <a:srgbClr val="7C72C4"/>
                </a:solidFill>
                <a:latin typeface="Arial"/>
              </a:rPr>
              <a:t>SOCIAL</a:t>
            </a:r>
          </a:p>
          <a:p>
            <a:pPr marL="141732" indent="-141732" algn="l">
              <a:lnSpc>
                <a:spcPct val="95000"/>
              </a:lnSpc>
              <a:spcBef>
                <a:spcPts val="600"/>
              </a:spcBef>
            </a:pPr>
            <a:r>
              <a:rPr sz="900" b="1" i="0" u="none">
                <a:solidFill>
                  <a:srgbClr val="7C72C4"/>
                </a:solidFill>
                <a:latin typeface="Arial"/>
              </a:rPr>
              <a:t>▪  </a:t>
            </a:r>
            <a:r>
              <a:rPr sz="900" b="0" i="0" u="none">
                <a:solidFill>
                  <a:srgbClr val="37463D"/>
                </a:solidFill>
                <a:latin typeface="Arial"/>
              </a:rPr>
              <a:t>Names in Sanskrit, Hindi, Tamil, Telugu, Bengali, Marathi and English</a:t>
            </a:r>
          </a:p>
          <a:p>
            <a:pPr marL="141732" indent="-141732" algn="l">
              <a:lnSpc>
                <a:spcPct val="95000"/>
              </a:lnSpc>
              <a:spcBef>
                <a:spcPts val="600"/>
              </a:spcBef>
            </a:pPr>
            <a:r>
              <a:rPr sz="900" b="1" i="0" u="none">
                <a:solidFill>
                  <a:srgbClr val="7C72C4"/>
                </a:solidFill>
                <a:latin typeface="Arial"/>
              </a:rPr>
              <a:t>▪  </a:t>
            </a:r>
            <a:r>
              <a:rPr sz="900" b="0" i="0" u="none">
                <a:solidFill>
                  <a:srgbClr val="37463D"/>
                </a:solidFill>
                <a:latin typeface="Arial"/>
              </a:rPr>
              <a:t>Spoken descriptions for low-vision and low-literacy learners</a:t>
            </a:r>
          </a:p>
          <a:p>
            <a:pPr marL="141732" indent="-141732" algn="l">
              <a:lnSpc>
                <a:spcPct val="95000"/>
              </a:lnSpc>
              <a:spcBef>
                <a:spcPts val="600"/>
              </a:spcBef>
            </a:pPr>
            <a:r>
              <a:rPr sz="900" b="1" i="0" u="none">
                <a:solidFill>
                  <a:srgbClr val="7C72C4"/>
                </a:solidFill>
                <a:latin typeface="Arial"/>
              </a:rPr>
              <a:t>▪  </a:t>
            </a:r>
            <a:r>
              <a:rPr sz="900" b="0" i="0" u="none">
                <a:solidFill>
                  <a:srgbClr val="37463D"/>
                </a:solidFill>
                <a:latin typeface="Arial"/>
              </a:rPr>
              <a:t>Free and offline-capable — it reaches low-bandwidth districts</a:t>
            </a:r>
          </a:p>
          <a:p>
            <a:pPr marL="141732" indent="-141732" algn="l">
              <a:lnSpc>
                <a:spcPct val="95000"/>
              </a:lnSpc>
              <a:spcBef>
                <a:spcPts val="600"/>
              </a:spcBef>
            </a:pPr>
            <a:r>
              <a:rPr sz="900" b="1" i="0" u="none">
                <a:solidFill>
                  <a:srgbClr val="7C72C4"/>
                </a:solidFill>
                <a:latin typeface="Arial"/>
              </a:rPr>
              <a:t>▪  </a:t>
            </a:r>
            <a:r>
              <a:rPr sz="900" b="0" i="0" u="none">
                <a:solidFill>
                  <a:srgbClr val="37463D"/>
                </a:solidFill>
                <a:latin typeface="Arial"/>
              </a:rPr>
              <a:t>Works on a shared classroom tablet: no login, no account, nothing leaves the device</a:t>
            </a:r>
          </a:p>
        </p:txBody>
      </p:sp>
      <p:sp>
        <p:nvSpPr>
          <p:cNvPr id="44" name="Rounded Rectangle 43"/>
          <p:cNvSpPr/>
          <p:nvPr/>
        </p:nvSpPr>
        <p:spPr>
          <a:xfrm>
            <a:off x="3273552" y="3694176"/>
            <a:ext cx="2615184" cy="2103120"/>
          </a:xfrm>
          <a:prstGeom prst="roundRect">
            <a:avLst>
              <a:gd name="adj" fmla="val 7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3273552" y="3785615"/>
            <a:ext cx="50292" cy="1920239"/>
          </a:xfrm>
          <a:prstGeom prst="rect">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3493008" y="3858768"/>
            <a:ext cx="2194560" cy="1783080"/>
          </a:xfrm>
          <a:prstGeom prst="rect">
            <a:avLst/>
          </a:prstGeom>
          <a:noFill/>
        </p:spPr>
        <p:txBody>
          <a:bodyPr wrap="square" lIns="0" tIns="0" rIns="0" bIns="0" anchor="t">
            <a:spAutoFit/>
          </a:bodyPr>
          <a:lstStyle/>
          <a:p>
            <a:pPr algn="l"/>
            <a:r>
              <a:rPr sz="950" b="1" i="0" u="none" spc="140">
                <a:solidFill>
                  <a:srgbClr val="D9A13C"/>
                </a:solidFill>
                <a:latin typeface="Arial"/>
              </a:rPr>
              <a:t>ECONOMIC</a:t>
            </a:r>
          </a:p>
          <a:p>
            <a:pPr marL="141732" indent="-141732" algn="l">
              <a:lnSpc>
                <a:spcPct val="95000"/>
              </a:lnSpc>
              <a:spcBef>
                <a:spcPts val="600"/>
              </a:spcBef>
            </a:pPr>
            <a:r>
              <a:rPr sz="900" b="1" i="0" u="none">
                <a:solidFill>
                  <a:srgbClr val="D9A13C"/>
                </a:solidFill>
                <a:latin typeface="Arial"/>
              </a:rPr>
              <a:t>▪  </a:t>
            </a:r>
            <a:r>
              <a:rPr sz="900" b="0" i="0" u="none">
                <a:solidFill>
                  <a:srgbClr val="37463D"/>
                </a:solidFill>
                <a:latin typeface="Arial"/>
              </a:rPr>
              <a:t>No 3D artists, no photo licensing, no server bills</a:t>
            </a:r>
          </a:p>
          <a:p>
            <a:pPr marL="141732" indent="-141732" algn="l">
              <a:lnSpc>
                <a:spcPct val="95000"/>
              </a:lnSpc>
              <a:spcBef>
                <a:spcPts val="600"/>
              </a:spcBef>
            </a:pPr>
            <a:r>
              <a:rPr sz="900" b="1" i="0" u="none">
                <a:solidFill>
                  <a:srgbClr val="D9A13C"/>
                </a:solidFill>
                <a:latin typeface="Arial"/>
              </a:rPr>
              <a:t>▪  </a:t>
            </a:r>
            <a:r>
              <a:rPr sz="900" b="0" i="0" u="none">
                <a:solidFill>
                  <a:srgbClr val="37463D"/>
                </a:solidFill>
                <a:latin typeface="Arial"/>
              </a:rPr>
              <a:t>A new species is ~30 lines of data, added in an afternoon</a:t>
            </a:r>
          </a:p>
          <a:p>
            <a:pPr marL="141732" indent="-141732" algn="l">
              <a:lnSpc>
                <a:spcPct val="95000"/>
              </a:lnSpc>
              <a:spcBef>
                <a:spcPts val="600"/>
              </a:spcBef>
            </a:pPr>
            <a:r>
              <a:rPr sz="900" b="1" i="0" u="none">
                <a:solidFill>
                  <a:srgbClr val="D9A13C"/>
                </a:solidFill>
                <a:latin typeface="Arial"/>
              </a:rPr>
              <a:t>▪  </a:t>
            </a:r>
            <a:r>
              <a:rPr sz="900" b="0" i="0" u="none">
                <a:solidFill>
                  <a:srgbClr val="37463D"/>
                </a:solidFill>
                <a:latin typeface="Arial"/>
              </a:rPr>
              <a:t>Deploys to any free static host; no GPU farm, no CDN</a:t>
            </a:r>
          </a:p>
          <a:p>
            <a:pPr marL="141732" indent="-141732" algn="l">
              <a:lnSpc>
                <a:spcPct val="95000"/>
              </a:lnSpc>
              <a:spcBef>
                <a:spcPts val="600"/>
              </a:spcBef>
            </a:pPr>
            <a:r>
              <a:rPr sz="900" b="1" i="0" u="none">
                <a:solidFill>
                  <a:srgbClr val="D9A13C"/>
                </a:solidFill>
                <a:latin typeface="Arial"/>
              </a:rPr>
              <a:t>▪  </a:t>
            </a:r>
            <a:r>
              <a:rPr sz="900" b="0" i="0" u="none">
                <a:solidFill>
                  <a:srgbClr val="37463D"/>
                </a:solidFill>
                <a:latin typeface="Arial"/>
              </a:rPr>
              <a:t>One codebase serves phone, tablet and classroom projector</a:t>
            </a:r>
          </a:p>
        </p:txBody>
      </p:sp>
      <p:sp>
        <p:nvSpPr>
          <p:cNvPr id="47" name="Rounded Rectangle 46"/>
          <p:cNvSpPr/>
          <p:nvPr/>
        </p:nvSpPr>
        <p:spPr>
          <a:xfrm>
            <a:off x="6071616" y="3694176"/>
            <a:ext cx="2615184" cy="2103120"/>
          </a:xfrm>
          <a:prstGeom prst="roundRect">
            <a:avLst>
              <a:gd name="adj" fmla="val 7000"/>
            </a:avLst>
          </a:prstGeom>
          <a:solidFill>
            <a:srgbClr val="FFFFFF"/>
          </a:solidFill>
          <a:ln w="9525">
            <a:solidFill>
              <a:srgbClr val="DDE3DA"/>
            </a:solidFill>
          </a:ln>
          <a:effectLst>
            <a:outerShdw blurRad="110000" dist="26000" dir="5400000" rotWithShape="0">
              <a:srgbClr val="1B3A2A">
                <a:alpha val="11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Rectangle 47"/>
          <p:cNvSpPr/>
          <p:nvPr/>
        </p:nvSpPr>
        <p:spPr>
          <a:xfrm>
            <a:off x="6071616" y="3785615"/>
            <a:ext cx="50292" cy="1920239"/>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6291072" y="3858768"/>
            <a:ext cx="2194560" cy="1783080"/>
          </a:xfrm>
          <a:prstGeom prst="rect">
            <a:avLst/>
          </a:prstGeom>
          <a:noFill/>
        </p:spPr>
        <p:txBody>
          <a:bodyPr wrap="square" lIns="0" tIns="0" rIns="0" bIns="0" anchor="t">
            <a:spAutoFit/>
          </a:bodyPr>
          <a:lstStyle/>
          <a:p>
            <a:pPr algn="l"/>
            <a:r>
              <a:rPr sz="950" b="1" i="0" u="none" spc="140">
                <a:solidFill>
                  <a:srgbClr val="4F9D5C"/>
                </a:solidFill>
                <a:latin typeface="Arial"/>
              </a:rPr>
              <a:t>ENVIRONMENTAL</a:t>
            </a:r>
          </a:p>
          <a:p>
            <a:pPr marL="141732" indent="-141732" algn="l">
              <a:lnSpc>
                <a:spcPct val="95000"/>
              </a:lnSpc>
              <a:spcBef>
                <a:spcPts val="600"/>
              </a:spcBef>
            </a:pPr>
            <a:r>
              <a:rPr sz="900" b="1" i="0" u="none">
                <a:solidFill>
                  <a:srgbClr val="4F9D5C"/>
                </a:solidFill>
                <a:latin typeface="Arial"/>
              </a:rPr>
              <a:t>▪  </a:t>
            </a:r>
            <a:r>
              <a:rPr sz="900" b="0" i="0" u="none">
                <a:solidFill>
                  <a:srgbClr val="37463D"/>
                </a:solidFill>
                <a:latin typeface="Arial"/>
              </a:rPr>
              <a:t>Teaches critically endangered species without picking one</a:t>
            </a:r>
          </a:p>
          <a:p>
            <a:pPr marL="141732" indent="-141732" algn="l">
              <a:lnSpc>
                <a:spcPct val="95000"/>
              </a:lnSpc>
              <a:spcBef>
                <a:spcPts val="600"/>
              </a:spcBef>
            </a:pPr>
            <a:r>
              <a:rPr sz="900" b="1" i="0" u="none">
                <a:solidFill>
                  <a:srgbClr val="4F9D5C"/>
                </a:solidFill>
                <a:latin typeface="Arial"/>
              </a:rPr>
              <a:t>▪  </a:t>
            </a:r>
            <a:r>
              <a:rPr sz="900" b="0" i="0" u="none">
                <a:solidFill>
                  <a:srgbClr val="37463D"/>
                </a:solidFill>
                <a:latin typeface="Arial"/>
              </a:rPr>
              <a:t>A whole tour on guggulu: the medicinal part is the part that kills the plant</a:t>
            </a:r>
          </a:p>
          <a:p>
            <a:pPr marL="141732" indent="-141732" algn="l">
              <a:lnSpc>
                <a:spcPct val="95000"/>
              </a:lnSpc>
              <a:spcBef>
                <a:spcPts val="600"/>
              </a:spcBef>
            </a:pPr>
            <a:r>
              <a:rPr sz="900" b="1" i="0" u="none">
                <a:solidFill>
                  <a:srgbClr val="4F9D5C"/>
                </a:solidFill>
                <a:latin typeface="Arial"/>
              </a:rPr>
              <a:t>▪  </a:t>
            </a:r>
            <a:r>
              <a:rPr sz="900" b="0" i="0" u="none">
                <a:solidFill>
                  <a:srgbClr val="37463D"/>
                </a:solidFill>
                <a:latin typeface="Arial"/>
              </a:rPr>
              <a:t>Conservation status printed on every plant card</a:t>
            </a:r>
          </a:p>
          <a:p>
            <a:pPr marL="141732" indent="-141732" algn="l">
              <a:lnSpc>
                <a:spcPct val="95000"/>
              </a:lnSpc>
              <a:spcBef>
                <a:spcPts val="600"/>
              </a:spcBef>
            </a:pPr>
            <a:r>
              <a:rPr sz="900" b="1" i="0" u="none">
                <a:solidFill>
                  <a:srgbClr val="4F9D5C"/>
                </a:solidFill>
                <a:latin typeface="Arial"/>
              </a:rPr>
              <a:t>▪  </a:t>
            </a:r>
            <a:r>
              <a:rPr sz="900" b="0" i="0" u="none">
                <a:solidFill>
                  <a:srgbClr val="37463D"/>
                </a:solidFill>
                <a:latin typeface="Arial"/>
              </a:rPr>
              <a:t>Six themed beds map each medicine back to its habitat and region</a:t>
            </a:r>
          </a:p>
        </p:txBody>
      </p:sp>
      <p:sp>
        <p:nvSpPr>
          <p:cNvPr id="50" name="IMAGE PLACEHOLDER - IMAGE 4"/>
          <p:cNvSpPr/>
          <p:nvPr/>
        </p:nvSpPr>
        <p:spPr>
          <a:xfrm>
            <a:off x="8686800" y="3694176"/>
            <a:ext cx="3026664" cy="2103120"/>
          </a:xfrm>
          <a:prstGeom prst="roundRect">
            <a:avLst>
              <a:gd name="adj" fmla="val 5000"/>
            </a:avLst>
          </a:prstGeom>
          <a:solidFill>
            <a:srgbClr val="ECF1EA"/>
          </a:solid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8887968" y="3694176"/>
            <a:ext cx="2624328" cy="2103120"/>
          </a:xfrm>
          <a:prstGeom prst="rect">
            <a:avLst/>
          </a:prstGeom>
          <a:noFill/>
        </p:spPr>
        <p:txBody>
          <a:bodyPr wrap="square" lIns="0" tIns="0" rIns="0" bIns="0" anchor="ctr">
            <a:spAutoFit/>
          </a:bodyPr>
          <a:lstStyle/>
          <a:p>
            <a:pPr algn="ctr"/>
            <a:r>
              <a:rPr sz="1050" b="1" i="0" u="none" spc="120">
                <a:solidFill>
                  <a:srgbClr val="1E6B45"/>
                </a:solidFill>
                <a:latin typeface="Arial"/>
              </a:rPr>
              <a:t>IMAGE 4</a:t>
            </a:r>
          </a:p>
          <a:p>
            <a:pPr algn="ctr">
              <a:spcBef>
                <a:spcPts val="400"/>
              </a:spcBef>
            </a:pPr>
            <a:r>
              <a:rPr sz="900" b="0" i="1" u="none">
                <a:solidFill>
                  <a:srgbClr val="5B6B60"/>
                </a:solidFill>
                <a:latin typeface="Arial"/>
              </a:rPr>
              <a:t>Students exploring the garden on a tablet</a:t>
            </a:r>
          </a:p>
          <a:p>
            <a:pPr algn="ctr">
              <a:spcBef>
                <a:spcPts val="500"/>
              </a:spcBef>
            </a:pPr>
            <a:r>
              <a:rPr sz="750" b="0" i="0" u="none">
                <a:solidFill>
                  <a:srgbClr val="8A978D"/>
                </a:solidFill>
                <a:latin typeface="Arial"/>
              </a:rPr>
              <a:t>replace with the AI image (prompt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6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440" fill="hold"/>
                                        <p:tgtEl>
                                          <p:spTgt spid="16"/>
                                        </p:tgtEl>
                                        <p:attrNameLst>
                                          <p:attrName>ppt_y</p:attrName>
                                        </p:attrNameLst>
                                      </p:cBhvr>
                                      <p:tavLst>
                                        <p:tav tm="0">
                                          <p:val>
                                            <p:strVal val="#ppt_y+.035"/>
                                          </p:val>
                                        </p:tav>
                                        <p:tav tm="100000">
                                          <p:val>
                                            <p:strVal val="#ppt_y"/>
                                          </p:val>
                                        </p:tav>
                                      </p:tavLst>
                                    </p:anim>
                                    <p:animEffect transition="in" filter="fade">
                                      <p:cBhvr>
                                        <p:cTn id="8" dur="440"/>
                                        <p:tgtEl>
                                          <p:spTgt spid="16"/>
                                        </p:tgtEl>
                                      </p:cBhvr>
                                    </p:animEffect>
                                  </p:childTnLst>
                                </p:cTn>
                              </p:par>
                            </p:childTnLst>
                          </p:cTn>
                        </p:par>
                      </p:childTnLst>
                    </p:cTn>
                  </p:par>
                  <p:par>
                    <p:cTn id="9" fill="hold">
                      <p:stCondLst>
                        <p:cond delay="17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440" fill="hold"/>
                                        <p:tgtEl>
                                          <p:spTgt spid="19"/>
                                        </p:tgtEl>
                                        <p:attrNameLst>
                                          <p:attrName>ppt_y</p:attrName>
                                        </p:attrNameLst>
                                      </p:cBhvr>
                                      <p:tavLst>
                                        <p:tav tm="0">
                                          <p:val>
                                            <p:strVal val="#ppt_y+.035"/>
                                          </p:val>
                                        </p:tav>
                                        <p:tav tm="100000">
                                          <p:val>
                                            <p:strVal val="#ppt_y"/>
                                          </p:val>
                                        </p:tav>
                                      </p:tavLst>
                                    </p:anim>
                                    <p:animEffect transition="in" filter="fade">
                                      <p:cBhvr>
                                        <p:cTn id="14" dur="440"/>
                                        <p:tgtEl>
                                          <p:spTgt spid="19"/>
                                        </p:tgtEl>
                                      </p:cBhvr>
                                    </p:animEffect>
                                  </p:childTnLst>
                                </p:cTn>
                              </p:par>
                            </p:childTnLst>
                          </p:cTn>
                        </p:par>
                      </p:childTnLst>
                    </p:cTn>
                  </p:par>
                  <p:par>
                    <p:cTn id="15" fill="hold">
                      <p:stCondLst>
                        <p:cond delay="280"/>
                      </p:stCondLst>
                      <p:childTnLst>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440" fill="hold"/>
                                        <p:tgtEl>
                                          <p:spTgt spid="22"/>
                                        </p:tgtEl>
                                        <p:attrNameLst>
                                          <p:attrName>ppt_y</p:attrName>
                                        </p:attrNameLst>
                                      </p:cBhvr>
                                      <p:tavLst>
                                        <p:tav tm="0">
                                          <p:val>
                                            <p:strVal val="#ppt_y+.035"/>
                                          </p:val>
                                        </p:tav>
                                        <p:tav tm="100000">
                                          <p:val>
                                            <p:strVal val="#ppt_y"/>
                                          </p:val>
                                        </p:tav>
                                      </p:tavLst>
                                    </p:anim>
                                    <p:animEffect transition="in" filter="fade">
                                      <p:cBhvr>
                                        <p:cTn id="20" dur="440"/>
                                        <p:tgtEl>
                                          <p:spTgt spid="22"/>
                                        </p:tgtEl>
                                      </p:cBhvr>
                                    </p:animEffect>
                                  </p:childTnLst>
                                </p:cTn>
                              </p:par>
                            </p:childTnLst>
                          </p:cTn>
                        </p:par>
                      </p:childTnLst>
                    </p:cTn>
                  </p:par>
                  <p:par>
                    <p:cTn id="21" fill="hold">
                      <p:stCondLst>
                        <p:cond delay="390"/>
                      </p:stCondLst>
                      <p:childTnLst>
                        <p:par>
                          <p:cTn id="22" fill="hold">
                            <p:stCondLst>
                              <p:cond delay="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440" fill="hold"/>
                                        <p:tgtEl>
                                          <p:spTgt spid="25"/>
                                        </p:tgtEl>
                                        <p:attrNameLst>
                                          <p:attrName>ppt_y</p:attrName>
                                        </p:attrNameLst>
                                      </p:cBhvr>
                                      <p:tavLst>
                                        <p:tav tm="0">
                                          <p:val>
                                            <p:strVal val="#ppt_y+.035"/>
                                          </p:val>
                                        </p:tav>
                                        <p:tav tm="100000">
                                          <p:val>
                                            <p:strVal val="#ppt_y"/>
                                          </p:val>
                                        </p:tav>
                                      </p:tavLst>
                                    </p:anim>
                                    <p:animEffect transition="in" filter="fade">
                                      <p:cBhvr>
                                        <p:cTn id="26" dur="440"/>
                                        <p:tgtEl>
                                          <p:spTgt spid="25"/>
                                        </p:tgtEl>
                                      </p:cBhvr>
                                    </p:animEffect>
                                  </p:childTnLst>
                                </p:cTn>
                              </p:par>
                            </p:childTnLst>
                          </p:cTn>
                        </p:par>
                      </p:childTnLst>
                    </p:cTn>
                  </p:par>
                  <p:par>
                    <p:cTn id="27" fill="hold">
                      <p:stCondLst>
                        <p:cond delay="140"/>
                      </p:stCondLst>
                      <p:childTnLst>
                        <p:par>
                          <p:cTn id="28" fill="hold">
                            <p:stCondLst>
                              <p:cond delay="0"/>
                            </p:stCondLst>
                            <p:childTnLst>
                              <p:par>
                                <p:cTn id="29" presetID="22" presetClass="entr" presetSubtype="8"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right)">
                                      <p:cBhvr>
                                        <p:cTn id="31" dur="550"/>
                                        <p:tgtEl>
                                          <p:spTgt spid="28"/>
                                        </p:tgtEl>
                                      </p:cBhvr>
                                    </p:animEffect>
                                  </p:childTnLst>
                                </p:cTn>
                              </p:par>
                            </p:childTnLst>
                          </p:cTn>
                        </p:par>
                      </p:childTnLst>
                    </p:cTn>
                  </p:par>
                  <p:par>
                    <p:cTn id="32" fill="hold">
                      <p:stCondLst>
                        <p:cond delay="160"/>
                      </p:stCondLst>
                      <p:childTnLst>
                        <p:par>
                          <p:cTn id="33" fill="hold">
                            <p:stCondLst>
                              <p:cond delay="0"/>
                            </p:stCondLst>
                            <p:childTnLst>
                              <p:par>
                                <p:cTn id="34" presetID="10" presetClass="entr" presetSubtype="0" fill="hold" grpId="0" nodeType="afterEffect">
                                  <p:stCondLst>
                                    <p:cond delay="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480" fill="hold"/>
                                        <p:tgtEl>
                                          <p:spTgt spid="41"/>
                                        </p:tgtEl>
                                        <p:attrNameLst>
                                          <p:attrName>ppt_y</p:attrName>
                                        </p:attrNameLst>
                                      </p:cBhvr>
                                      <p:tavLst>
                                        <p:tav tm="0">
                                          <p:val>
                                            <p:strVal val="#ppt_y+.035"/>
                                          </p:val>
                                        </p:tav>
                                        <p:tav tm="100000">
                                          <p:val>
                                            <p:strVal val="#ppt_y"/>
                                          </p:val>
                                        </p:tav>
                                      </p:tavLst>
                                    </p:anim>
                                    <p:animEffect transition="in" filter="fade">
                                      <p:cBhvr>
                                        <p:cTn id="37" dur="480"/>
                                        <p:tgtEl>
                                          <p:spTgt spid="41"/>
                                        </p:tgtEl>
                                      </p:cBhvr>
                                    </p:animEffect>
                                  </p:childTnLst>
                                </p:cTn>
                              </p:par>
                            </p:childTnLst>
                          </p:cTn>
                        </p:par>
                      </p:childTnLst>
                    </p:cTn>
                  </p:par>
                  <p:par>
                    <p:cTn id="38" fill="hold">
                      <p:stCondLst>
                        <p:cond delay="290"/>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additive="base">
                                        <p:cTn id="42" dur="480" fill="hold"/>
                                        <p:tgtEl>
                                          <p:spTgt spid="44"/>
                                        </p:tgtEl>
                                        <p:attrNameLst>
                                          <p:attrName>ppt_y</p:attrName>
                                        </p:attrNameLst>
                                      </p:cBhvr>
                                      <p:tavLst>
                                        <p:tav tm="0">
                                          <p:val>
                                            <p:strVal val="#ppt_y+.035"/>
                                          </p:val>
                                        </p:tav>
                                        <p:tav tm="100000">
                                          <p:val>
                                            <p:strVal val="#ppt_y"/>
                                          </p:val>
                                        </p:tav>
                                      </p:tavLst>
                                    </p:anim>
                                    <p:animEffect transition="in" filter="fade">
                                      <p:cBhvr>
                                        <p:cTn id="43" dur="480"/>
                                        <p:tgtEl>
                                          <p:spTgt spid="44"/>
                                        </p:tgtEl>
                                      </p:cBhvr>
                                    </p:animEffect>
                                  </p:childTnLst>
                                </p:cTn>
                              </p:par>
                            </p:childTnLst>
                          </p:cTn>
                        </p:par>
                      </p:childTnLst>
                    </p:cTn>
                  </p:par>
                  <p:par>
                    <p:cTn id="44" fill="hold">
                      <p:stCondLst>
                        <p:cond delay="420"/>
                      </p:stCondLst>
                      <p:childTnLst>
                        <p:par>
                          <p:cTn id="45" fill="hold">
                            <p:stCondLst>
                              <p:cond delay="0"/>
                            </p:stCondLst>
                            <p:childTnLst>
                              <p:par>
                                <p:cTn id="46" presetID="10" presetClass="entr" presetSubtype="0"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 calcmode="lin" valueType="num">
                                      <p:cBhvr additive="base">
                                        <p:cTn id="48" dur="480" fill="hold"/>
                                        <p:tgtEl>
                                          <p:spTgt spid="47"/>
                                        </p:tgtEl>
                                        <p:attrNameLst>
                                          <p:attrName>ppt_y</p:attrName>
                                        </p:attrNameLst>
                                      </p:cBhvr>
                                      <p:tavLst>
                                        <p:tav tm="0">
                                          <p:val>
                                            <p:strVal val="#ppt_y+.035"/>
                                          </p:val>
                                        </p:tav>
                                        <p:tav tm="100000">
                                          <p:val>
                                            <p:strVal val="#ppt_y"/>
                                          </p:val>
                                        </p:tav>
                                      </p:tavLst>
                                    </p:anim>
                                    <p:animEffect transition="in" filter="fade">
                                      <p:cBhvr>
                                        <p:cTn id="49" dur="480"/>
                                        <p:tgtEl>
                                          <p:spTgt spid="47"/>
                                        </p:tgtEl>
                                      </p:cBhvr>
                                    </p:animEffect>
                                  </p:childTnLst>
                                </p:cTn>
                              </p:par>
                            </p:childTnLst>
                          </p:cTn>
                        </p:par>
                      </p:childTnLst>
                    </p:cTn>
                  </p:par>
                  <p:par>
                    <p:cTn id="50" fill="hold">
                      <p:stCondLst>
                        <p:cond delay="220"/>
                      </p:stCondLst>
                      <p:childTnLst>
                        <p:par>
                          <p:cTn id="51" fill="hold">
                            <p:stCondLst>
                              <p:cond delay="0"/>
                            </p:stCondLst>
                            <p:childTnLst>
                              <p:par>
                                <p:cTn id="52" presetID="23" presetClass="entr" presetSubtype="16"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62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28" grpId="0" animBg="1"/>
      <p:bldP spid="41" grpId="0" animBg="1"/>
      <p:bldP spid="44" grpId="0" animBg="1"/>
      <p:bldP spid="47"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7F8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191969" cy="68580"/>
          </a:xfrm>
          <a:prstGeom prst="rect">
            <a:avLst/>
          </a:prstGeom>
          <a:gradFill rotWithShape="1">
            <a:gsLst>
              <a:gs pos="0">
                <a:srgbClr val="D9A13C"/>
              </a:gs>
              <a:gs pos="100000">
                <a:srgbClr val="1E6B4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ectangle 3"/>
          <p:cNvSpPr/>
          <p:nvPr/>
        </p:nvSpPr>
        <p:spPr>
          <a:xfrm>
            <a:off x="0" y="6354165"/>
            <a:ext cx="12191969" cy="50383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384048" y="6354165"/>
            <a:ext cx="4572000" cy="503834"/>
          </a:xfrm>
          <a:prstGeom prst="rect">
            <a:avLst/>
          </a:prstGeom>
          <a:noFill/>
        </p:spPr>
        <p:txBody>
          <a:bodyPr wrap="square" lIns="0" tIns="0" rIns="0" bIns="0" anchor="ctr">
            <a:spAutoFit/>
          </a:bodyPr>
          <a:lstStyle/>
          <a:p>
            <a:pPr algn="l"/>
            <a:r>
              <a:rPr sz="950" b="1" i="0" u="none" spc="80">
                <a:solidFill>
                  <a:srgbClr val="FFFFFF"/>
                </a:solidFill>
                <a:latin typeface="Arial"/>
              </a:rPr>
              <a:t>VANASPATI  ·  Virtual Herbal Garden</a:t>
            </a:r>
          </a:p>
        </p:txBody>
      </p:sp>
      <p:sp>
        <p:nvSpPr>
          <p:cNvPr id="6" name="TextBox 5"/>
          <p:cNvSpPr txBox="1"/>
          <p:nvPr/>
        </p:nvSpPr>
        <p:spPr>
          <a:xfrm>
            <a:off x="4206240" y="6354165"/>
            <a:ext cx="3749039" cy="503834"/>
          </a:xfrm>
          <a:prstGeom prst="rect">
            <a:avLst/>
          </a:prstGeom>
          <a:noFill/>
        </p:spPr>
        <p:txBody>
          <a:bodyPr wrap="square" lIns="0" tIns="0" rIns="0" bIns="0" anchor="ctr">
            <a:spAutoFit/>
          </a:bodyPr>
          <a:lstStyle/>
          <a:p>
            <a:pPr algn="ctr"/>
            <a:r>
              <a:rPr sz="950" b="0" i="0" u="none">
                <a:solidFill>
                  <a:srgbClr val="FFFFFF"/>
                </a:solidFill>
                <a:latin typeface="Arial"/>
              </a:rPr>
              <a:t>@SIH Idea submission- Template</a:t>
            </a:r>
          </a:p>
        </p:txBody>
      </p:sp>
      <p:sp>
        <p:nvSpPr>
          <p:cNvPr id="7" name="TextBox 6"/>
          <p:cNvSpPr txBox="1"/>
          <p:nvPr/>
        </p:nvSpPr>
        <p:spPr>
          <a:xfrm>
            <a:off x="10424160" y="6354165"/>
            <a:ext cx="1280160" cy="503834"/>
          </a:xfrm>
          <a:prstGeom prst="rect">
            <a:avLst/>
          </a:prstGeom>
          <a:noFill/>
        </p:spPr>
        <p:txBody>
          <a:bodyPr wrap="square" lIns="0" tIns="0" rIns="0" bIns="0" anchor="ctr">
            <a:spAutoFit/>
          </a:bodyPr>
          <a:lstStyle/>
          <a:p>
            <a:pPr algn="r"/>
            <a:r>
              <a:rPr sz="1100" b="1" i="0" u="none">
                <a:solidFill>
                  <a:srgbClr val="FFFFFF"/>
                </a:solidFill>
                <a:latin typeface="Arial"/>
              </a:rPr>
              <a:t>6</a:t>
            </a:r>
          </a:p>
        </p:txBody>
      </p:sp>
      <p:pic>
        <p:nvPicPr>
          <p:cNvPr id="8" name="Picture 7" descr="image2.png"/>
          <p:cNvPicPr>
            <a:picLocks noChangeAspect="1"/>
          </p:cNvPicPr>
          <p:nvPr/>
        </p:nvPicPr>
        <p:blipFill>
          <a:blip r:embed="rId3"/>
          <a:stretch>
            <a:fillRect/>
          </a:stretch>
        </p:blipFill>
        <p:spPr>
          <a:xfrm>
            <a:off x="10113264" y="182880"/>
            <a:ext cx="1572768" cy="799185"/>
          </a:xfrm>
          <a:prstGeom prst="rect">
            <a:avLst/>
          </a:prstGeom>
        </p:spPr>
      </p:pic>
      <p:sp>
        <p:nvSpPr>
          <p:cNvPr id="9" name="TEAM LOGO PLACEHOLDER"/>
          <p:cNvSpPr/>
          <p:nvPr/>
        </p:nvSpPr>
        <p:spPr>
          <a:xfrm>
            <a:off x="475488" y="201168"/>
            <a:ext cx="877824" cy="576072"/>
          </a:xfrm>
          <a:prstGeom prst="ellipse">
            <a:avLst/>
          </a:prstGeom>
          <a:noFill/>
          <a:ln w="15875">
            <a:solidFill>
              <a:srgbClr val="7FB06D"/>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u="none" spc="60">
                <a:solidFill>
                  <a:srgbClr val="7FB06D"/>
                </a:solidFill>
                <a:latin typeface="Arial"/>
              </a:rPr>
              <a:t>TEAM
LOGO</a:t>
            </a:r>
          </a:p>
        </p:txBody>
      </p:sp>
      <p:pic>
        <p:nvPicPr>
          <p:cNvPr id="10" name="Picture 9" descr="leaf_tulsi_ghost.png"/>
          <p:cNvPicPr>
            <a:picLocks noChangeAspect="1"/>
          </p:cNvPicPr>
          <p:nvPr/>
        </p:nvPicPr>
        <p:blipFill>
          <a:blip r:embed="rId4"/>
          <a:stretch>
            <a:fillRect/>
          </a:stretch>
        </p:blipFill>
        <p:spPr>
          <a:xfrm rot="20820000">
            <a:off x="9415928" y="91440"/>
            <a:ext cx="514456" cy="841248"/>
          </a:xfrm>
          <a:prstGeom prst="rect">
            <a:avLst/>
          </a:prstGeom>
        </p:spPr>
      </p:pic>
      <p:sp>
        <p:nvSpPr>
          <p:cNvPr id="11" name="TextBox 10"/>
          <p:cNvSpPr txBox="1"/>
          <p:nvPr/>
        </p:nvSpPr>
        <p:spPr>
          <a:xfrm>
            <a:off x="1481328" y="173736"/>
            <a:ext cx="7863840" cy="475488"/>
          </a:xfrm>
          <a:prstGeom prst="rect">
            <a:avLst/>
          </a:prstGeom>
          <a:noFill/>
        </p:spPr>
        <p:txBody>
          <a:bodyPr wrap="square" lIns="0" tIns="0" rIns="0" bIns="0" anchor="t">
            <a:spAutoFit/>
          </a:bodyPr>
          <a:lstStyle/>
          <a:p>
            <a:pPr algn="l"/>
            <a:r>
              <a:rPr sz="2700" b="1" i="0" u="none" spc="60">
                <a:solidFill>
                  <a:srgbClr val="12261C"/>
                </a:solidFill>
                <a:latin typeface="Times New Roman"/>
              </a:rPr>
              <a:t>RESEARCH AND REFERENCES</a:t>
            </a:r>
          </a:p>
        </p:txBody>
      </p:sp>
      <p:sp>
        <p:nvSpPr>
          <p:cNvPr id="12" name="TextBox 11"/>
          <p:cNvSpPr txBox="1"/>
          <p:nvPr/>
        </p:nvSpPr>
        <p:spPr>
          <a:xfrm>
            <a:off x="1481328" y="658368"/>
            <a:ext cx="7498079" cy="237744"/>
          </a:xfrm>
          <a:prstGeom prst="rect">
            <a:avLst/>
          </a:prstGeom>
          <a:noFill/>
        </p:spPr>
        <p:txBody>
          <a:bodyPr wrap="square" lIns="0" tIns="0" rIns="0" bIns="0" anchor="t">
            <a:spAutoFit/>
          </a:bodyPr>
          <a:lstStyle/>
          <a:p>
            <a:pPr algn="l"/>
            <a:r>
              <a:rPr sz="1000" b="0" i="1" u="none">
                <a:solidFill>
                  <a:srgbClr val="5B6B60"/>
                </a:solidFill>
                <a:latin typeface="Arial"/>
              </a:rPr>
              <a:t>Where the botany, the pharmacology and the rendering come from</a:t>
            </a:r>
          </a:p>
        </p:txBody>
      </p:sp>
      <p:sp>
        <p:nvSpPr>
          <p:cNvPr id="13" name="Rectangle 12"/>
          <p:cNvSpPr/>
          <p:nvPr/>
        </p:nvSpPr>
        <p:spPr>
          <a:xfrm>
            <a:off x="1481328" y="918971"/>
            <a:ext cx="10232136" cy="10972"/>
          </a:xfrm>
          <a:prstGeom prst="rect">
            <a:avLst/>
          </a:prstGeom>
          <a:solidFill>
            <a:srgbClr val="DDE3D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1481328" y="914400"/>
            <a:ext cx="1417320" cy="29260"/>
          </a:xfrm>
          <a:prstGeom prst="rect">
            <a:avLst/>
          </a:prstGeom>
          <a:solidFill>
            <a:srgbClr val="1E6B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75488" y="1060704"/>
            <a:ext cx="6400800" cy="219456"/>
          </a:xfrm>
          <a:prstGeom prst="rect">
            <a:avLst/>
          </a:prstGeom>
          <a:noFill/>
        </p:spPr>
        <p:txBody>
          <a:bodyPr wrap="square" lIns="0" tIns="0" rIns="0" bIns="0" anchor="t">
            <a:spAutoFit/>
          </a:bodyPr>
          <a:lstStyle/>
          <a:p>
            <a:pPr algn="l"/>
            <a:r>
              <a:rPr sz="1000" b="1" i="0" u="sng">
                <a:solidFill>
                  <a:srgbClr val="1F497D"/>
                </a:solidFill>
                <a:latin typeface="Arial"/>
              </a:rPr>
              <a:t>Details / Links of the reference and research work</a:t>
            </a:r>
          </a:p>
        </p:txBody>
      </p:sp>
      <p:sp>
        <p:nvSpPr>
          <p:cNvPr id="16" name="Rounded Rectangle 15"/>
          <p:cNvSpPr/>
          <p:nvPr/>
        </p:nvSpPr>
        <p:spPr>
          <a:xfrm>
            <a:off x="475488" y="1371600"/>
            <a:ext cx="5468112" cy="384048"/>
          </a:xfrm>
          <a:prstGeom prst="roundRect">
            <a:avLst>
              <a:gd name="adj" fmla="val 16000"/>
            </a:avLst>
          </a:prstGeom>
          <a:solidFill>
            <a:srgbClr val="ECF1E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694944" y="1371600"/>
            <a:ext cx="5029200" cy="384048"/>
          </a:xfrm>
          <a:prstGeom prst="rect">
            <a:avLst/>
          </a:prstGeom>
          <a:noFill/>
        </p:spPr>
        <p:txBody>
          <a:bodyPr wrap="square" lIns="0" tIns="0" rIns="0" bIns="0" anchor="ctr">
            <a:spAutoFit/>
          </a:bodyPr>
          <a:lstStyle/>
          <a:p>
            <a:pPr algn="l"/>
            <a:r>
              <a:rPr sz="950" b="1" i="0" u="none" spc="140">
                <a:solidFill>
                  <a:srgbClr val="4F9D5C"/>
                </a:solidFill>
                <a:latin typeface="Arial"/>
              </a:rPr>
              <a:t>BOTANICAL, AYURVEDIC &amp; CONSERVATION</a:t>
            </a:r>
          </a:p>
        </p:txBody>
      </p:sp>
      <p:sp>
        <p:nvSpPr>
          <p:cNvPr id="18" name="Rounded Rectangle 17"/>
          <p:cNvSpPr/>
          <p:nvPr/>
        </p:nvSpPr>
        <p:spPr>
          <a:xfrm>
            <a:off x="475488" y="1865376"/>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ectangle 18"/>
          <p:cNvSpPr/>
          <p:nvPr/>
        </p:nvSpPr>
        <p:spPr>
          <a:xfrm>
            <a:off x="475488" y="1956816"/>
            <a:ext cx="41148" cy="384048"/>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694944" y="1865376"/>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Ayurvedic Pharmacopoeia of India</a:t>
            </a:r>
          </a:p>
          <a:p>
            <a:pPr algn="l">
              <a:lnSpc>
                <a:spcPct val="100000"/>
              </a:lnSpc>
              <a:spcBef>
                <a:spcPts val="200"/>
              </a:spcBef>
            </a:pPr>
            <a:r>
              <a:rPr sz="850" b="0" i="0" u="none">
                <a:solidFill>
                  <a:srgbClr val="5B6B60"/>
                </a:solidFill>
                <a:latin typeface="Arial"/>
              </a:rPr>
              <a:t>rasa, guna, virya, vipaka and doshic action conventions</a:t>
            </a:r>
          </a:p>
        </p:txBody>
      </p:sp>
      <p:sp>
        <p:nvSpPr>
          <p:cNvPr id="21" name="Rounded Rectangle 20"/>
          <p:cNvSpPr/>
          <p:nvPr/>
        </p:nvSpPr>
        <p:spPr>
          <a:xfrm>
            <a:off x="475488" y="2487168"/>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475488" y="2578608"/>
            <a:ext cx="41148" cy="384048"/>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94944" y="2487168"/>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Ministry of AYUSH</a:t>
            </a:r>
          </a:p>
          <a:p>
            <a:pPr algn="l">
              <a:lnSpc>
                <a:spcPct val="100000"/>
              </a:lnSpc>
              <a:spcBef>
                <a:spcPts val="200"/>
              </a:spcBef>
            </a:pPr>
            <a:r>
              <a:rPr sz="850" b="0" i="0" u="none">
                <a:solidFill>
                  <a:srgbClr val="5B6B60"/>
                </a:solidFill>
                <a:latin typeface="Arial"/>
              </a:rPr>
              <a:t>system definitions and terminology · ayush.gov.in</a:t>
            </a:r>
          </a:p>
        </p:txBody>
      </p:sp>
      <p:sp>
        <p:nvSpPr>
          <p:cNvPr id="24" name="Rounded Rectangle 23"/>
          <p:cNvSpPr/>
          <p:nvPr/>
        </p:nvSpPr>
        <p:spPr>
          <a:xfrm>
            <a:off x="475488" y="3108960"/>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475488" y="3200400"/>
            <a:ext cx="41148" cy="384048"/>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694944" y="3108960"/>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National Medicinal Plants Board / e-Charak</a:t>
            </a:r>
          </a:p>
          <a:p>
            <a:pPr algn="l">
              <a:lnSpc>
                <a:spcPct val="100000"/>
              </a:lnSpc>
              <a:spcBef>
                <a:spcPts val="200"/>
              </a:spcBef>
            </a:pPr>
            <a:r>
              <a:rPr sz="850" b="0" i="0" u="none">
                <a:solidFill>
                  <a:srgbClr val="5B6B60"/>
                </a:solidFill>
                <a:latin typeface="Arial"/>
              </a:rPr>
              <a:t>cultivation, trade and species lists · nmpb.nic.in</a:t>
            </a:r>
          </a:p>
        </p:txBody>
      </p:sp>
      <p:sp>
        <p:nvSpPr>
          <p:cNvPr id="27" name="Rounded Rectangle 26"/>
          <p:cNvSpPr/>
          <p:nvPr/>
        </p:nvSpPr>
        <p:spPr>
          <a:xfrm>
            <a:off x="475488" y="3730752"/>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ectangle 27"/>
          <p:cNvSpPr/>
          <p:nvPr/>
        </p:nvSpPr>
        <p:spPr>
          <a:xfrm>
            <a:off x="475488" y="3822191"/>
            <a:ext cx="41148" cy="384048"/>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694944" y="3730752"/>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IUCN Red List of Threatened Species</a:t>
            </a:r>
          </a:p>
          <a:p>
            <a:pPr algn="l">
              <a:lnSpc>
                <a:spcPct val="100000"/>
              </a:lnSpc>
              <a:spcBef>
                <a:spcPts val="200"/>
              </a:spcBef>
            </a:pPr>
            <a:r>
              <a:rPr sz="850" b="0" i="0" u="none">
                <a:solidFill>
                  <a:srgbClr val="5B6B60"/>
                </a:solidFill>
                <a:latin typeface="Arial"/>
              </a:rPr>
              <a:t>conservation status per species · iucnredlist.org</a:t>
            </a:r>
          </a:p>
        </p:txBody>
      </p:sp>
      <p:sp>
        <p:nvSpPr>
          <p:cNvPr id="30" name="Rounded Rectangle 29"/>
          <p:cNvSpPr/>
          <p:nvPr/>
        </p:nvSpPr>
        <p:spPr>
          <a:xfrm>
            <a:off x="475488" y="4352544"/>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475488" y="4443983"/>
            <a:ext cx="41148" cy="384048"/>
          </a:xfrm>
          <a:prstGeom prst="rect">
            <a:avLst/>
          </a:prstGeom>
          <a:solidFill>
            <a:srgbClr val="4F9D5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94944" y="4352544"/>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Standard Indian field floras</a:t>
            </a:r>
          </a:p>
          <a:p>
            <a:pPr algn="l">
              <a:lnSpc>
                <a:spcPct val="100000"/>
              </a:lnSpc>
              <a:spcBef>
                <a:spcPts val="200"/>
              </a:spcBef>
            </a:pPr>
            <a:r>
              <a:rPr sz="850" b="0" i="0" u="none">
                <a:solidFill>
                  <a:srgbClr val="5B6B60"/>
                </a:solidFill>
                <a:latin typeface="Arial"/>
              </a:rPr>
              <a:t>morphology, habitat and regional distribution</a:t>
            </a:r>
          </a:p>
        </p:txBody>
      </p:sp>
      <p:sp>
        <p:nvSpPr>
          <p:cNvPr id="33" name="Rounded Rectangle 32"/>
          <p:cNvSpPr/>
          <p:nvPr/>
        </p:nvSpPr>
        <p:spPr>
          <a:xfrm>
            <a:off x="6245352" y="1371600"/>
            <a:ext cx="5468112" cy="384048"/>
          </a:xfrm>
          <a:prstGeom prst="roundRect">
            <a:avLst>
              <a:gd name="adj" fmla="val 16000"/>
            </a:avLst>
          </a:prstGeom>
          <a:solidFill>
            <a:srgbClr val="ECF1E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6464808" y="1371600"/>
            <a:ext cx="5029200" cy="384048"/>
          </a:xfrm>
          <a:prstGeom prst="rect">
            <a:avLst/>
          </a:prstGeom>
          <a:noFill/>
        </p:spPr>
        <p:txBody>
          <a:bodyPr wrap="square" lIns="0" tIns="0" rIns="0" bIns="0" anchor="ctr">
            <a:spAutoFit/>
          </a:bodyPr>
          <a:lstStyle/>
          <a:p>
            <a:pPr algn="l"/>
            <a:r>
              <a:rPr sz="950" b="1" i="0" u="none" spc="140">
                <a:solidFill>
                  <a:srgbClr val="4AA3A8"/>
                </a:solidFill>
                <a:latin typeface="Arial"/>
              </a:rPr>
              <a:t>RENDERING, WEB &amp; PERFORMANCE</a:t>
            </a:r>
          </a:p>
        </p:txBody>
      </p:sp>
      <p:sp>
        <p:nvSpPr>
          <p:cNvPr id="35" name="Rounded Rectangle 34"/>
          <p:cNvSpPr/>
          <p:nvPr/>
        </p:nvSpPr>
        <p:spPr>
          <a:xfrm>
            <a:off x="6245352" y="1865376"/>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6245352" y="1956816"/>
            <a:ext cx="41148" cy="384048"/>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464808" y="1865376"/>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three.js documentation and examples</a:t>
            </a:r>
          </a:p>
          <a:p>
            <a:pPr algn="l">
              <a:lnSpc>
                <a:spcPct val="100000"/>
              </a:lnSpc>
              <a:spcBef>
                <a:spcPts val="200"/>
              </a:spcBef>
            </a:pPr>
            <a:r>
              <a:rPr sz="850" b="0" i="0" u="none">
                <a:solidFill>
                  <a:srgbClr val="5B6B60"/>
                </a:solidFill>
                <a:latin typeface="Arial"/>
              </a:rPr>
              <a:t>geometry, materials, instancing · threejs.org</a:t>
            </a:r>
          </a:p>
        </p:txBody>
      </p:sp>
      <p:sp>
        <p:nvSpPr>
          <p:cNvPr id="38" name="Rounded Rectangle 37"/>
          <p:cNvSpPr/>
          <p:nvPr/>
        </p:nvSpPr>
        <p:spPr>
          <a:xfrm>
            <a:off x="6245352" y="2487168"/>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ectangle 38"/>
          <p:cNvSpPr/>
          <p:nvPr/>
        </p:nvSpPr>
        <p:spPr>
          <a:xfrm>
            <a:off x="6245352" y="2578608"/>
            <a:ext cx="41148" cy="384048"/>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6464808" y="2487168"/>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React Three Fiber + drei</a:t>
            </a:r>
          </a:p>
          <a:p>
            <a:pPr algn="l">
              <a:lnSpc>
                <a:spcPct val="100000"/>
              </a:lnSpc>
              <a:spcBef>
                <a:spcPts val="200"/>
              </a:spcBef>
            </a:pPr>
            <a:r>
              <a:rPr sz="850" b="0" i="0" u="none">
                <a:solidFill>
                  <a:srgbClr val="5B6B60"/>
                </a:solidFill>
                <a:latin typeface="Arial"/>
              </a:rPr>
              <a:t>declarative scene graph · r3f.docs.pmnd.rs</a:t>
            </a:r>
          </a:p>
        </p:txBody>
      </p:sp>
      <p:sp>
        <p:nvSpPr>
          <p:cNvPr id="41" name="Rounded Rectangle 40"/>
          <p:cNvSpPr/>
          <p:nvPr/>
        </p:nvSpPr>
        <p:spPr>
          <a:xfrm>
            <a:off x="6245352" y="3108960"/>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6245352" y="3200400"/>
            <a:ext cx="41148" cy="384048"/>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6464808" y="3108960"/>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GPU Gems 3, ch. 16</a:t>
            </a:r>
          </a:p>
          <a:p>
            <a:pPr algn="l">
              <a:lnSpc>
                <a:spcPct val="100000"/>
              </a:lnSpc>
              <a:spcBef>
                <a:spcPts val="200"/>
              </a:spcBef>
            </a:pPr>
            <a:r>
              <a:rPr sz="850" b="0" i="0" u="none">
                <a:solidFill>
                  <a:srgbClr val="5B6B60"/>
                </a:solidFill>
                <a:latin typeface="Arial"/>
              </a:rPr>
              <a:t>vegetation procedural animation and shading</a:t>
            </a:r>
          </a:p>
        </p:txBody>
      </p:sp>
      <p:sp>
        <p:nvSpPr>
          <p:cNvPr id="44" name="Rounded Rectangle 43"/>
          <p:cNvSpPr/>
          <p:nvPr/>
        </p:nvSpPr>
        <p:spPr>
          <a:xfrm>
            <a:off x="6245352" y="3730752"/>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6245352" y="3822191"/>
            <a:ext cx="41148" cy="384048"/>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464808" y="3730752"/>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Vogel's model of phyllotaxis</a:t>
            </a:r>
          </a:p>
          <a:p>
            <a:pPr algn="l">
              <a:lnSpc>
                <a:spcPct val="100000"/>
              </a:lnSpc>
              <a:spcBef>
                <a:spcPts val="200"/>
              </a:spcBef>
            </a:pPr>
            <a:r>
              <a:rPr sz="850" b="0" i="0" u="none">
                <a:solidFill>
                  <a:srgbClr val="5B6B60"/>
                </a:solidFill>
                <a:latin typeface="Arial"/>
              </a:rPr>
              <a:t>the golden angle used to place leaves</a:t>
            </a:r>
          </a:p>
        </p:txBody>
      </p:sp>
      <p:sp>
        <p:nvSpPr>
          <p:cNvPr id="47" name="Rounded Rectangle 46"/>
          <p:cNvSpPr/>
          <p:nvPr/>
        </p:nvSpPr>
        <p:spPr>
          <a:xfrm>
            <a:off x="6245352" y="4352544"/>
            <a:ext cx="5468112" cy="566928"/>
          </a:xfrm>
          <a:prstGeom prst="roundRect">
            <a:avLst>
              <a:gd name="adj" fmla="val 10000"/>
            </a:avLst>
          </a:prstGeom>
          <a:solidFill>
            <a:srgbClr val="FFFFFF"/>
          </a:solidFill>
          <a:ln w="9525">
            <a:solidFill>
              <a:srgbClr val="DDE3D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Rectangle 47"/>
          <p:cNvSpPr/>
          <p:nvPr/>
        </p:nvSpPr>
        <p:spPr>
          <a:xfrm>
            <a:off x="6245352" y="4443983"/>
            <a:ext cx="41148" cy="384048"/>
          </a:xfrm>
          <a:prstGeom prst="rect">
            <a:avLst/>
          </a:prstGeom>
          <a:solidFill>
            <a:srgbClr val="4AA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6464808" y="4352544"/>
            <a:ext cx="5074920" cy="566928"/>
          </a:xfrm>
          <a:prstGeom prst="rect">
            <a:avLst/>
          </a:prstGeom>
          <a:noFill/>
        </p:spPr>
        <p:txBody>
          <a:bodyPr wrap="square" lIns="0" tIns="0" rIns="0" bIns="0" anchor="ctr">
            <a:spAutoFit/>
          </a:bodyPr>
          <a:lstStyle/>
          <a:p>
            <a:pPr algn="l">
              <a:lnSpc>
                <a:spcPct val="100000"/>
              </a:lnSpc>
            </a:pPr>
            <a:r>
              <a:rPr sz="1000" b="1" i="0" u="none">
                <a:solidFill>
                  <a:srgbClr val="12261C"/>
                </a:solidFill>
                <a:latin typeface="Arial"/>
              </a:rPr>
              <a:t>React 19 · Vite 8 · Tailwind v4 · Zustand</a:t>
            </a:r>
          </a:p>
          <a:p>
            <a:pPr algn="l">
              <a:lnSpc>
                <a:spcPct val="100000"/>
              </a:lnSpc>
              <a:spcBef>
                <a:spcPts val="200"/>
              </a:spcBef>
            </a:pPr>
            <a:r>
              <a:rPr sz="850" b="0" i="0" u="none">
                <a:solidFill>
                  <a:srgbClr val="5B6B60"/>
                </a:solidFill>
                <a:latin typeface="Arial"/>
              </a:rPr>
              <a:t>framework and tooling documentation</a:t>
            </a:r>
          </a:p>
        </p:txBody>
      </p:sp>
      <p:sp>
        <p:nvSpPr>
          <p:cNvPr id="50" name="Rounded Rectangle 49"/>
          <p:cNvSpPr/>
          <p:nvPr/>
        </p:nvSpPr>
        <p:spPr>
          <a:xfrm>
            <a:off x="475488" y="5047488"/>
            <a:ext cx="11237976" cy="1078992"/>
          </a:xfrm>
          <a:prstGeom prst="roundRect">
            <a:avLst>
              <a:gd name="adj" fmla="val 9000"/>
            </a:avLst>
          </a:prstGeom>
          <a:gradFill rotWithShape="1">
            <a:gsLst>
              <a:gs pos="0">
                <a:srgbClr val="17392A"/>
              </a:gs>
              <a:gs pos="100000">
                <a:srgbClr val="0C2118"/>
              </a:gs>
            </a:gsLst>
            <a:lin ang="0" scaled="0"/>
          </a:gradFill>
          <a:ln>
            <a:noFill/>
          </a:ln>
          <a:effectLst>
            <a:outerShdw blurRad="110000" dist="26000" dir="5400000" rotWithShape="0">
              <a:srgbClr val="1B3A2A">
                <a:alpha val="16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786384" y="5047488"/>
            <a:ext cx="7863840" cy="1078992"/>
          </a:xfrm>
          <a:prstGeom prst="rect">
            <a:avLst/>
          </a:prstGeom>
          <a:noFill/>
        </p:spPr>
        <p:txBody>
          <a:bodyPr wrap="square" lIns="0" tIns="0" rIns="0" bIns="0" anchor="ctr">
            <a:spAutoFit/>
          </a:bodyPr>
          <a:lstStyle/>
          <a:p>
            <a:pPr algn="l"/>
            <a:r>
              <a:rPr sz="850" b="1" i="0" u="none" spc="160">
                <a:solidFill>
                  <a:srgbClr val="9ED4A8"/>
                </a:solidFill>
                <a:latin typeface="Arial"/>
              </a:rPr>
              <a:t>PROTOTYPE</a:t>
            </a:r>
          </a:p>
          <a:p>
            <a:pPr algn="l">
              <a:spcBef>
                <a:spcPts val="400"/>
              </a:spcBef>
            </a:pPr>
            <a:r>
              <a:rPr sz="1050" b="1" i="0" u="none">
                <a:solidFill>
                  <a:srgbClr val="FFFFFF"/>
                </a:solidFill>
                <a:latin typeface="Arial"/>
              </a:rPr>
              <a:t>Live build: </a:t>
            </a:r>
            <a:r>
              <a:rPr sz="1050" b="1" i="0" u="none">
                <a:solidFill>
                  <a:srgbClr val="E8C26A"/>
                </a:solidFill>
                <a:latin typeface="Arial"/>
              </a:rPr>
              <a:t>« deployment URL »</a:t>
            </a:r>
            <a:r>
              <a:rPr sz="1050" b="1" i="0" u="none">
                <a:solidFill>
                  <a:srgbClr val="FFFFFF"/>
                </a:solidFill>
                <a:latin typeface="Arial"/>
              </a:rPr>
              <a:t>      Source: </a:t>
            </a:r>
            <a:r>
              <a:rPr sz="1050" b="1" i="0" u="none">
                <a:solidFill>
                  <a:srgbClr val="E8C26A"/>
                </a:solidFill>
                <a:latin typeface="Arial"/>
              </a:rPr>
              <a:t>« repository URL »</a:t>
            </a:r>
          </a:p>
          <a:p>
            <a:pPr algn="l">
              <a:spcBef>
                <a:spcPts val="300"/>
              </a:spcBef>
            </a:pPr>
            <a:r>
              <a:rPr sz="850" b="0" i="0" u="none">
                <a:solidFill>
                  <a:srgbClr val="9FB7A6"/>
                </a:solidFill>
                <a:latin typeface="Arial"/>
              </a:rPr>
              <a:t>Runs in any modern browser · no install, no login, no backend · 25 species available offline after the first visit.</a:t>
            </a:r>
          </a:p>
        </p:txBody>
      </p:sp>
      <p:sp>
        <p:nvSpPr>
          <p:cNvPr id="52" name="QR CODE PLACEHOLDER"/>
          <p:cNvSpPr/>
          <p:nvPr/>
        </p:nvSpPr>
        <p:spPr>
          <a:xfrm>
            <a:off x="10561320" y="5175504"/>
            <a:ext cx="822960" cy="822960"/>
          </a:xfrm>
          <a:prstGeom prst="roundRect">
            <a:avLst>
              <a:gd name="adj" fmla="val 8000"/>
            </a:avLst>
          </a:prstGeom>
          <a:solidFill>
            <a:srgbClr val="183326"/>
          </a:solidFill>
          <a:ln w="9525">
            <a:solidFill>
              <a:srgbClr val="3A6B52"/>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0561320" y="5175504"/>
            <a:ext cx="822960" cy="822960"/>
          </a:xfrm>
          <a:prstGeom prst="rect">
            <a:avLst/>
          </a:prstGeom>
          <a:noFill/>
        </p:spPr>
        <p:txBody>
          <a:bodyPr wrap="square" lIns="0" tIns="0" rIns="0" bIns="0" anchor="ctr">
            <a:spAutoFit/>
          </a:bodyPr>
          <a:lstStyle/>
          <a:p>
            <a:pPr algn="ctr"/>
            <a:r>
              <a:rPr sz="700" b="1" i="0" u="none">
                <a:solidFill>
                  <a:srgbClr val="8FB59C"/>
                </a:solidFill>
                <a:latin typeface="Arial"/>
              </a:rPr>
              <a:t>QR
to the
prototype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6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40"/>
                                        <p:tgtEl>
                                          <p:spTgt spid="16"/>
                                        </p:tgtEl>
                                      </p:cBhvr>
                                    </p:animEffect>
                                  </p:childTnLst>
                                </p:cTn>
                              </p:par>
                            </p:childTnLst>
                          </p:cTn>
                        </p:par>
                      </p:childTnLst>
                    </p:cTn>
                  </p:par>
                  <p:par>
                    <p:cTn id="8" fill="hold">
                      <p:stCondLst>
                        <p:cond delay="115"/>
                      </p:stCondLst>
                      <p:childTnLst>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340"/>
                                        <p:tgtEl>
                                          <p:spTgt spid="18"/>
                                        </p:tgtEl>
                                      </p:cBhvr>
                                    </p:animEffect>
                                  </p:childTnLst>
                                </p:cTn>
                              </p:par>
                            </p:childTnLst>
                          </p:cTn>
                        </p:par>
                      </p:childTnLst>
                    </p:cTn>
                  </p:par>
                  <p:par>
                    <p:cTn id="13" fill="hold">
                      <p:stCondLst>
                        <p:cond delay="170"/>
                      </p:stCondLst>
                      <p:childTnLst>
                        <p:par>
                          <p:cTn id="14" fill="hold">
                            <p:stCondLst>
                              <p:cond delay="0"/>
                            </p:stCondLst>
                            <p:childTnLst>
                              <p:par>
                                <p:cTn id="15" presetID="10" presetClass="entr" presetSubtype="0"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340"/>
                                        <p:tgtEl>
                                          <p:spTgt spid="21"/>
                                        </p:tgtEl>
                                      </p:cBhvr>
                                    </p:animEffect>
                                  </p:childTnLst>
                                </p:cTn>
                              </p:par>
                            </p:childTnLst>
                          </p:cTn>
                        </p:par>
                      </p:childTnLst>
                    </p:cTn>
                  </p:par>
                  <p:par>
                    <p:cTn id="18" fill="hold">
                      <p:stCondLst>
                        <p:cond delay="225"/>
                      </p:stCondLst>
                      <p:childTnLst>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340"/>
                                        <p:tgtEl>
                                          <p:spTgt spid="24"/>
                                        </p:tgtEl>
                                      </p:cBhvr>
                                    </p:animEffect>
                                  </p:childTnLst>
                                </p:cTn>
                              </p:par>
                            </p:childTnLst>
                          </p:cTn>
                        </p:par>
                      </p:childTnLst>
                    </p:cTn>
                  </p:par>
                  <p:par>
                    <p:cTn id="23" fill="hold">
                      <p:stCondLst>
                        <p:cond delay="280"/>
                      </p:stCondLst>
                      <p:childTnLst>
                        <p:par>
                          <p:cTn id="24" fill="hold">
                            <p:stCondLst>
                              <p:cond delay="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340"/>
                                        <p:tgtEl>
                                          <p:spTgt spid="27"/>
                                        </p:tgtEl>
                                      </p:cBhvr>
                                    </p:animEffect>
                                  </p:childTnLst>
                                </p:cTn>
                              </p:par>
                            </p:childTnLst>
                          </p:cTn>
                        </p:par>
                      </p:childTnLst>
                    </p:cTn>
                  </p:par>
                  <p:par>
                    <p:cTn id="28" fill="hold">
                      <p:stCondLst>
                        <p:cond delay="335"/>
                      </p:stCondLst>
                      <p:childTnLst>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340"/>
                                        <p:tgtEl>
                                          <p:spTgt spid="30"/>
                                        </p:tgtEl>
                                      </p:cBhvr>
                                    </p:animEffect>
                                  </p:childTnLst>
                                </p:cTn>
                              </p:par>
                            </p:childTnLst>
                          </p:cTn>
                        </p:par>
                      </p:childTnLst>
                    </p:cTn>
                  </p:par>
                  <p:par>
                    <p:cTn id="33" fill="hold">
                      <p:stCondLst>
                        <p:cond delay="39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340"/>
                                        <p:tgtEl>
                                          <p:spTgt spid="33"/>
                                        </p:tgtEl>
                                      </p:cBhvr>
                                    </p:animEffect>
                                  </p:childTnLst>
                                </p:cTn>
                              </p:par>
                            </p:childTnLst>
                          </p:cTn>
                        </p:par>
                      </p:childTnLst>
                    </p:cTn>
                  </p:par>
                  <p:par>
                    <p:cTn id="38" fill="hold">
                      <p:stCondLst>
                        <p:cond delay="445"/>
                      </p:stCondLst>
                      <p:childTnLst>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340"/>
                                        <p:tgtEl>
                                          <p:spTgt spid="35"/>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0"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340"/>
                                        <p:tgtEl>
                                          <p:spTgt spid="38"/>
                                        </p:tgtEl>
                                      </p:cBhvr>
                                    </p:animEffect>
                                  </p:childTnLst>
                                </p:cTn>
                              </p:par>
                            </p:childTnLst>
                          </p:cTn>
                        </p:par>
                      </p:childTnLst>
                    </p:cTn>
                  </p:par>
                  <p:par>
                    <p:cTn id="48" fill="hold">
                      <p:stCondLst>
                        <p:cond delay="555"/>
                      </p:stCondLst>
                      <p:childTnLst>
                        <p:par>
                          <p:cTn id="49" fill="hold">
                            <p:stCondLst>
                              <p:cond delay="0"/>
                            </p:stCondLst>
                            <p:childTnLst>
                              <p:par>
                                <p:cTn id="50" presetID="10" presetClass="entr" presetSubtype="0" fill="hold" grpId="0"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340"/>
                                        <p:tgtEl>
                                          <p:spTgt spid="41"/>
                                        </p:tgtEl>
                                      </p:cBhvr>
                                    </p:animEffect>
                                  </p:childTnLst>
                                </p:cTn>
                              </p:par>
                            </p:childTnLst>
                          </p:cTn>
                        </p:par>
                      </p:childTnLst>
                    </p:cTn>
                  </p:par>
                  <p:par>
                    <p:cTn id="53" fill="hold">
                      <p:stCondLst>
                        <p:cond delay="610"/>
                      </p:stCondLst>
                      <p:childTnLst>
                        <p:par>
                          <p:cTn id="54"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40"/>
                                        <p:tgtEl>
                                          <p:spTgt spid="44"/>
                                        </p:tgtEl>
                                      </p:cBhvr>
                                    </p:animEffect>
                                  </p:childTnLst>
                                </p:cTn>
                              </p:par>
                            </p:childTnLst>
                          </p:cTn>
                        </p:par>
                      </p:childTnLst>
                    </p:cTn>
                  </p:par>
                  <p:par>
                    <p:cTn id="58" fill="hold">
                      <p:stCondLst>
                        <p:cond delay="665"/>
                      </p:stCondLst>
                      <p:childTnLst>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340"/>
                                        <p:tgtEl>
                                          <p:spTgt spid="47"/>
                                        </p:tgtEl>
                                      </p:cBhvr>
                                    </p:animEffect>
                                  </p:childTnLst>
                                </p:cTn>
                              </p:par>
                            </p:childTnLst>
                          </p:cTn>
                        </p:par>
                      </p:childTnLst>
                    </p:cTn>
                  </p:par>
                  <p:par>
                    <p:cTn id="63" fill="hold">
                      <p:stCondLst>
                        <p:cond delay="200"/>
                      </p:stCondLst>
                      <p:childTnLst>
                        <p:par>
                          <p:cTn id="64" fill="hold">
                            <p:stCondLst>
                              <p:cond delay="0"/>
                            </p:stCondLst>
                            <p:childTnLst>
                              <p:par>
                                <p:cTn id="65" presetID="10" presetClass="entr" presetSubtype="0" fill="hold" grpId="0" nodeType="afterEffect">
                                  <p:stCondLst>
                                    <p:cond delay="0"/>
                                  </p:stCondLst>
                                  <p:childTnLst>
                                    <p:set>
                                      <p:cBhvr>
                                        <p:cTn id="66" dur="1" fill="hold">
                                          <p:stCondLst>
                                            <p:cond delay="0"/>
                                          </p:stCondLst>
                                        </p:cTn>
                                        <p:tgtEl>
                                          <p:spTgt spid="50"/>
                                        </p:tgtEl>
                                        <p:attrNameLst>
                                          <p:attrName>style.visibility</p:attrName>
                                        </p:attrNameLst>
                                      </p:cBhvr>
                                      <p:to>
                                        <p:strVal val="visible"/>
                                      </p:to>
                                    </p:set>
                                    <p:anim calcmode="lin" valueType="num">
                                      <p:cBhvr additive="base">
                                        <p:cTn id="67" dur="560" fill="hold"/>
                                        <p:tgtEl>
                                          <p:spTgt spid="50"/>
                                        </p:tgtEl>
                                        <p:attrNameLst>
                                          <p:attrName>ppt_y</p:attrName>
                                        </p:attrNameLst>
                                      </p:cBhvr>
                                      <p:tavLst>
                                        <p:tav tm="0">
                                          <p:val>
                                            <p:strVal val="#ppt_y+.035"/>
                                          </p:val>
                                        </p:tav>
                                        <p:tav tm="100000">
                                          <p:val>
                                            <p:strVal val="#ppt_y"/>
                                          </p:val>
                                        </p:tav>
                                      </p:tavLst>
                                    </p:anim>
                                    <p:animEffect transition="in" filter="fade">
                                      <p:cBhvr>
                                        <p:cTn id="68" dur="56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1" grpId="0" animBg="1"/>
      <p:bldP spid="24" grpId="0" animBg="1"/>
      <p:bldP spid="27" grpId="0" animBg="1"/>
      <p:bldP spid="30" grpId="0" animBg="1"/>
      <p:bldP spid="33" grpId="0" animBg="1"/>
      <p:bldP spid="35" grpId="0" animBg="1"/>
      <p:bldP spid="38" grpId="0" animBg="1"/>
      <p:bldP spid="41" grpId="0" animBg="1"/>
      <p:bldP spid="44" grpId="0" animBg="1"/>
      <p:bldP spid="47" grpId="0" animBg="1"/>
      <p:bldP spid="5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7492</TotalTime>
  <Words>1785</Words>
  <Application>Microsoft Office PowerPoint</Application>
  <PresentationFormat>Widescreen</PresentationFormat>
  <Paragraphs>209</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Consolas</vt:lpstr>
      <vt:lpstr>Times New Roman</vt:lpstr>
      <vt:lpstr>TradeGothic</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Vanaspati - Virtual Herbal Garden | SIH 2025 Idea Submission</dc:title>
  <dc:subject>Smart India Hackathon 2025 - Idea Presentation</dc:subject>
  <dc:creator>« Team Name »</dc:creator>
  <cp:keywords/>
  <dc:description/>
  <cp:lastModifiedBy>Tushar Surti</cp:lastModifiedBy>
  <cp:revision>147</cp:revision>
  <dcterms:created xsi:type="dcterms:W3CDTF">2013-12-12T18:46:50Z</dcterms:created>
  <dcterms:modified xsi:type="dcterms:W3CDTF">2026-08-20T14:57:12Z</dcterms:modified>
  <cp:category/>
</cp:coreProperties>
</file>